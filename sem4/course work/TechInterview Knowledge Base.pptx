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Amatic SC"/>
      <p:regular r:id="rId16"/>
      <p:bold r:id="rId17"/>
    </p:embeddedFont>
    <p:embeddedFont>
      <p:font typeface="Source Sans 3"/>
      <p:regular r:id="rId18"/>
      <p:bold r:id="rId19"/>
      <p:italic r:id="rId20"/>
      <p:boldItalic r:id="rId21"/>
    </p:embeddedFont>
    <p:embeddedFont>
      <p:font typeface="Lor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-italic.fntdata"/><Relationship Id="rId22" Type="http://schemas.openxmlformats.org/officeDocument/2006/relationships/font" Target="fonts/Lora-regular.fntdata"/><Relationship Id="rId21" Type="http://schemas.openxmlformats.org/officeDocument/2006/relationships/font" Target="fonts/SourceSans3-boldItalic.fntdata"/><Relationship Id="rId24" Type="http://schemas.openxmlformats.org/officeDocument/2006/relationships/font" Target="fonts/Lora-italic.fntdata"/><Relationship Id="rId23" Type="http://schemas.openxmlformats.org/officeDocument/2006/relationships/font" Target="fonts/Lor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Lora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19" Type="http://schemas.openxmlformats.org/officeDocument/2006/relationships/font" Target="fonts/SourceSans3-bold.fntdata"/><Relationship Id="rId18" Type="http://schemas.openxmlformats.org/officeDocument/2006/relationships/font" Target="fonts/SourceSans3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7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20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31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41.png"/><Relationship Id="rId6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58.png"/><Relationship Id="rId9" Type="http://schemas.openxmlformats.org/officeDocument/2006/relationships/image" Target="../media/image44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5.png"/><Relationship Id="rId4" Type="http://schemas.openxmlformats.org/officeDocument/2006/relationships/image" Target="../media/image104.png"/><Relationship Id="rId9" Type="http://schemas.openxmlformats.org/officeDocument/2006/relationships/image" Target="../media/image59.png"/><Relationship Id="rId5" Type="http://schemas.openxmlformats.org/officeDocument/2006/relationships/image" Target="../media/image50.png"/><Relationship Id="rId6" Type="http://schemas.openxmlformats.org/officeDocument/2006/relationships/image" Target="../media/image45.png"/><Relationship Id="rId7" Type="http://schemas.openxmlformats.org/officeDocument/2006/relationships/image" Target="../media/image61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png"/><Relationship Id="rId10" Type="http://schemas.openxmlformats.org/officeDocument/2006/relationships/image" Target="../media/image82.png"/><Relationship Id="rId13" Type="http://schemas.openxmlformats.org/officeDocument/2006/relationships/image" Target="../media/image80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7.png"/><Relationship Id="rId4" Type="http://schemas.openxmlformats.org/officeDocument/2006/relationships/image" Target="../media/image64.png"/><Relationship Id="rId9" Type="http://schemas.openxmlformats.org/officeDocument/2006/relationships/image" Target="../media/image68.png"/><Relationship Id="rId5" Type="http://schemas.openxmlformats.org/officeDocument/2006/relationships/image" Target="../media/image75.png"/><Relationship Id="rId6" Type="http://schemas.openxmlformats.org/officeDocument/2006/relationships/image" Target="../media/image77.png"/><Relationship Id="rId7" Type="http://schemas.openxmlformats.org/officeDocument/2006/relationships/image" Target="../media/image65.png"/><Relationship Id="rId8" Type="http://schemas.openxmlformats.org/officeDocument/2006/relationships/image" Target="../media/image7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3.png"/><Relationship Id="rId10" Type="http://schemas.openxmlformats.org/officeDocument/2006/relationships/image" Target="../media/image88.png"/><Relationship Id="rId13" Type="http://schemas.openxmlformats.org/officeDocument/2006/relationships/image" Target="../media/image92.png"/><Relationship Id="rId12" Type="http://schemas.openxmlformats.org/officeDocument/2006/relationships/image" Target="../media/image102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3.png"/><Relationship Id="rId4" Type="http://schemas.openxmlformats.org/officeDocument/2006/relationships/image" Target="../media/image79.png"/><Relationship Id="rId9" Type="http://schemas.openxmlformats.org/officeDocument/2006/relationships/image" Target="../media/image24.png"/><Relationship Id="rId15" Type="http://schemas.openxmlformats.org/officeDocument/2006/relationships/image" Target="../media/image59.png"/><Relationship Id="rId14" Type="http://schemas.openxmlformats.org/officeDocument/2006/relationships/image" Target="../media/image85.png"/><Relationship Id="rId5" Type="http://schemas.openxmlformats.org/officeDocument/2006/relationships/image" Target="../media/image76.png"/><Relationship Id="rId6" Type="http://schemas.openxmlformats.org/officeDocument/2006/relationships/image" Target="../media/image98.png"/><Relationship Id="rId7" Type="http://schemas.openxmlformats.org/officeDocument/2006/relationships/image" Target="../media/image84.png"/><Relationship Id="rId8" Type="http://schemas.openxmlformats.org/officeDocument/2006/relationships/image" Target="../media/image8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4.png"/><Relationship Id="rId4" Type="http://schemas.openxmlformats.org/officeDocument/2006/relationships/image" Target="../media/image97.png"/><Relationship Id="rId5" Type="http://schemas.openxmlformats.org/officeDocument/2006/relationships/image" Target="../media/image95.png"/><Relationship Id="rId6" Type="http://schemas.openxmlformats.org/officeDocument/2006/relationships/image" Target="../media/image99.png"/><Relationship Id="rId7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1.png"/><Relationship Id="rId4" Type="http://schemas.openxmlformats.org/officeDocument/2006/relationships/image" Target="../media/image103.png"/><Relationship Id="rId5" Type="http://schemas.openxmlformats.org/officeDocument/2006/relationships/image" Target="../media/image105.png"/><Relationship Id="rId6" Type="http://schemas.openxmlformats.org/officeDocument/2006/relationships/image" Target="../media/image100.png"/><Relationship Id="rId7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482724" y="350490"/>
            <a:ext cx="1701105" cy="220712"/>
          </a:xfrm>
          <a:prstGeom prst="roundRect">
            <a:avLst>
              <a:gd fmla="val 6562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129" y="412552"/>
            <a:ext cx="96515" cy="9651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699864" y="386655"/>
            <a:ext cx="1868760" cy="148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КУРСОВОЙ ПРОЕКТ · PYTHON · CLI</a:t>
            </a:r>
            <a:endParaRPr b="0" i="0" sz="75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482724" y="615702"/>
            <a:ext cx="8178552" cy="212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6700"/>
              <a:buFont typeface="Lora"/>
              <a:buNone/>
            </a:pPr>
            <a:r>
              <a:rPr b="0" i="0" lang="en-US" sz="67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TechInterview</a:t>
            </a:r>
            <a:endParaRPr b="0" i="0" sz="6700" u="none" cap="none" strike="noStrike"/>
          </a:p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6700"/>
              <a:buFont typeface="Lora"/>
              <a:buNone/>
            </a:pPr>
            <a:r>
              <a:rPr b="0" i="0" lang="en-US" sz="67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Knowledge Base</a:t>
            </a:r>
            <a:endParaRPr b="0" i="0" sz="670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1606897" y="2912269"/>
            <a:ext cx="5701605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B4C6CA"/>
                </a:solidFill>
                <a:latin typeface="Lora"/>
                <a:ea typeface="Lora"/>
                <a:cs typeface="Lora"/>
                <a:sym typeface="Lora"/>
              </a:rPr>
              <a:t>Интеллектуальная база знаний для подготовки к техническим собеседованиям</a:t>
            </a:r>
            <a:endParaRPr b="0" i="0" sz="11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482724" y="3286720"/>
            <a:ext cx="8178552" cy="9004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482724" y="3450952"/>
            <a:ext cx="8178552" cy="1341983"/>
          </a:xfrm>
          <a:prstGeom prst="roundRect">
            <a:avLst>
              <a:gd fmla="val 1349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482724" y="3450952"/>
            <a:ext cx="4089276" cy="670992"/>
          </a:xfrm>
          <a:prstGeom prst="roundRect">
            <a:avLst>
              <a:gd fmla="val 2698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03349" y="3571577"/>
            <a:ext cx="1876946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Команда</a:t>
            </a:r>
            <a:endParaRPr b="0" i="0" sz="11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603349" y="3815804"/>
            <a:ext cx="4305226" cy="18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 инженера</a:t>
            </a:r>
            <a:endParaRPr b="0" i="0" sz="95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4572000" y="3450952"/>
            <a:ext cx="4089276" cy="670992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4572000" y="3450952"/>
            <a:ext cx="14288" cy="670992"/>
          </a:xfrm>
          <a:prstGeom prst="roundRect">
            <a:avLst>
              <a:gd fmla="val 126698" name="adj"/>
            </a:avLst>
          </a:prstGeom>
          <a:solidFill>
            <a:srgbClr val="5D6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4692625" y="3571577"/>
            <a:ext cx="1876946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Язык</a:t>
            </a:r>
            <a:endParaRPr b="0" i="0" sz="11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4692625" y="3815804"/>
            <a:ext cx="4305226" cy="18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Python</a:t>
            </a:r>
            <a:endParaRPr b="0" i="0" sz="9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482724" y="4121944"/>
            <a:ext cx="4089276" cy="670992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482724" y="4121944"/>
            <a:ext cx="4089276" cy="14288"/>
          </a:xfrm>
          <a:prstGeom prst="roundRect">
            <a:avLst>
              <a:gd fmla="val 126698" name="adj"/>
            </a:avLst>
          </a:prstGeom>
          <a:solidFill>
            <a:srgbClr val="5D6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603349" y="4242569"/>
            <a:ext cx="1876946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Интерфейс</a:t>
            </a:r>
            <a:endParaRPr b="0" i="0" sz="11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603349" y="4486796"/>
            <a:ext cx="4305226" cy="18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CLI-инструмент</a:t>
            </a:r>
            <a:endParaRPr b="0" i="0" sz="95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4572000" y="4121944"/>
            <a:ext cx="4089276" cy="670992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4572000" y="4121944"/>
            <a:ext cx="14288" cy="670992"/>
          </a:xfrm>
          <a:prstGeom prst="roundRect">
            <a:avLst>
              <a:gd fmla="val 126698" name="adj"/>
            </a:avLst>
          </a:prstGeom>
          <a:solidFill>
            <a:srgbClr val="5D6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4572000" y="4121944"/>
            <a:ext cx="4089276" cy="14288"/>
          </a:xfrm>
          <a:prstGeom prst="roundRect">
            <a:avLst>
              <a:gd fmla="val 126698" name="adj"/>
            </a:avLst>
          </a:prstGeom>
          <a:solidFill>
            <a:srgbClr val="5D6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4692625" y="4242569"/>
            <a:ext cx="1876946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Тесты</a:t>
            </a:r>
            <a:endParaRPr b="0" i="0" sz="110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4692625" y="4486796"/>
            <a:ext cx="4305226" cy="18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950"/>
              <a:buFont typeface="Source Sans 3"/>
              <a:buNone/>
            </a:pPr>
            <a:r>
              <a:rPr b="1" i="0" lang="en-US" sz="950" u="none" cap="none" strike="noStrike">
                <a:solidFill>
                  <a:srgbClr val="B4C6CA"/>
                </a:solidFill>
                <a:latin typeface="Source Sans 3"/>
                <a:ea typeface="Source Sans 3"/>
                <a:cs typeface="Source Sans 3"/>
                <a:sym typeface="Source Sans 3"/>
              </a:rPr>
              <a:t>177 passed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523577" y="466353"/>
            <a:ext cx="1150218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B4C6CA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КОНТЕКСТ ПРОЕКТА</a:t>
            </a:r>
            <a:endParaRPr b="0" i="0" sz="60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523577" y="635124"/>
            <a:ext cx="3955479" cy="288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800"/>
              <a:buFont typeface="Lora"/>
              <a:buNone/>
            </a:pPr>
            <a:r>
              <a:rPr b="0" i="0" lang="en-US" sz="18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Проблема, Цели и Архитектура</a:t>
            </a:r>
            <a:endParaRPr b="0" i="0" sz="180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452884" y="1034355"/>
            <a:ext cx="4070077" cy="2049959"/>
          </a:xfrm>
          <a:prstGeom prst="roundRect">
            <a:avLst>
              <a:gd fmla="val 718" name="adj"/>
            </a:avLst>
          </a:prstGeom>
          <a:solidFill>
            <a:srgbClr val="314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551036" y="1107951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Проблема</a:t>
            </a:r>
            <a:endParaRPr b="0" i="0" sz="900" u="none" cap="none" strike="noStrike"/>
          </a:p>
        </p:txBody>
      </p:sp>
      <p:pic>
        <p:nvPicPr>
          <p:cNvPr descr="preencoded.png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797" y="1359545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870049" y="1335137"/>
            <a:ext cx="1571848" cy="41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Подготовка к собеседованиям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разрознена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заметки, ссылки, случайные материалы</a:t>
            </a:r>
            <a:endParaRPr b="0" i="0" sz="750" u="none" cap="none" strike="noStrike"/>
          </a:p>
        </p:txBody>
      </p:sp>
      <p:pic>
        <p:nvPicPr>
          <p:cNvPr descr="preencoded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634" y="1359545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2852886" y="1335137"/>
            <a:ext cx="1571923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Нет единого стандарта материалов и форматов</a:t>
            </a:r>
            <a:endParaRPr b="0" i="0" sz="750" u="none" cap="none" strike="noStrike"/>
          </a:p>
        </p:txBody>
      </p:sp>
      <p:pic>
        <p:nvPicPr>
          <p:cNvPr descr="preencoded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797" y="1918915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70049" y="1894508"/>
            <a:ext cx="1571848" cy="41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Кандидаты тратят время на поиск, повторение и ручную структуризацию</a:t>
            </a:r>
            <a:endParaRPr b="0" i="0" sz="750" u="none" cap="none" strike="noStrike"/>
          </a:p>
        </p:txBody>
      </p:sp>
      <p:pic>
        <p:nvPicPr>
          <p:cNvPr descr="preencoded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634" y="1918915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2852886" y="1894508"/>
            <a:ext cx="1571923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Решение: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единая БЗ с валидацией, поиском и шаблонами</a:t>
            </a:r>
            <a:endParaRPr b="0" i="0" sz="750" u="none" cap="none" strike="noStrike"/>
          </a:p>
        </p:txBody>
      </p:sp>
      <p:sp>
        <p:nvSpPr>
          <p:cNvPr id="102" name="Google Shape;102;p15"/>
          <p:cNvSpPr/>
          <p:nvPr/>
        </p:nvSpPr>
        <p:spPr>
          <a:xfrm>
            <a:off x="4625801" y="1034355"/>
            <a:ext cx="4070077" cy="2049959"/>
          </a:xfrm>
          <a:prstGeom prst="roundRect">
            <a:avLst>
              <a:gd fmla="val 718" name="adj"/>
            </a:avLst>
          </a:prstGeom>
          <a:solidFill>
            <a:srgbClr val="F2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4723954" y="1107951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Цели проекта</a:t>
            </a:r>
            <a:endParaRPr b="0" i="0" sz="90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4723954" y="1335137"/>
            <a:ext cx="653504" cy="122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Lora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01</a:t>
            </a:r>
            <a:endParaRPr b="0" i="0" sz="750" u="none" cap="none" strike="noStrike"/>
          </a:p>
        </p:txBody>
      </p:sp>
      <p:pic>
        <p:nvPicPr>
          <p:cNvPr descr="preencoded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3954" y="1487612"/>
            <a:ext cx="1900089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4723954" y="1565225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Единый формат</a:t>
            </a:r>
            <a:endParaRPr b="0" i="0" sz="900" u="none" cap="none" strike="noStrike"/>
          </a:p>
        </p:txBody>
      </p:sp>
      <p:sp>
        <p:nvSpPr>
          <p:cNvPr id="107" name="Google Shape;107;p15"/>
          <p:cNvSpPr/>
          <p:nvPr/>
        </p:nvSpPr>
        <p:spPr>
          <a:xfrm>
            <a:off x="4723954" y="1783184"/>
            <a:ext cx="1900089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Markdown + YAML frontmatter для каждой единицы знаний</a:t>
            </a:r>
            <a:endParaRPr b="0" i="0" sz="7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6697638" y="1335137"/>
            <a:ext cx="653504" cy="122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Lora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02</a:t>
            </a:r>
            <a:endParaRPr b="0" i="0" sz="750" u="none" cap="none" strike="noStrike"/>
          </a:p>
        </p:txBody>
      </p:sp>
      <p:pic>
        <p:nvPicPr>
          <p:cNvPr descr="preencoded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7638" y="1487612"/>
            <a:ext cx="1900089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6697638" y="1565225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Быстрый поиск</a:t>
            </a:r>
            <a:endParaRPr b="0" i="0" sz="90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6697638" y="1783184"/>
            <a:ext cx="1900089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Релевантный отбор материалов по роли, уровню, домену</a:t>
            </a:r>
            <a:endParaRPr b="0" i="0" sz="75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4723954" y="2205112"/>
            <a:ext cx="653504" cy="122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Lora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03</a:t>
            </a:r>
            <a:endParaRPr b="0" i="0" sz="750" u="none" cap="none" strike="noStrike"/>
          </a:p>
        </p:txBody>
      </p:sp>
      <p:pic>
        <p:nvPicPr>
          <p:cNvPr descr="preencoded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3954" y="2347764"/>
            <a:ext cx="1900089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4723954" y="2435200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Контроль качества</a:t>
            </a:r>
            <a:endParaRPr b="0" i="0" sz="900" u="none" cap="none" strike="noStrike"/>
          </a:p>
        </p:txBody>
      </p:sp>
      <p:sp>
        <p:nvSpPr>
          <p:cNvPr id="115" name="Google Shape;115;p15"/>
          <p:cNvSpPr/>
          <p:nvPr/>
        </p:nvSpPr>
        <p:spPr>
          <a:xfrm>
            <a:off x="4723954" y="2653159"/>
            <a:ext cx="1900089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Валидация метаданных, ссылок и структуры</a:t>
            </a:r>
            <a:endParaRPr b="0" i="0" sz="750" u="none" cap="none" strike="noStrike"/>
          </a:p>
        </p:txBody>
      </p:sp>
      <p:sp>
        <p:nvSpPr>
          <p:cNvPr id="116" name="Google Shape;116;p15"/>
          <p:cNvSpPr/>
          <p:nvPr/>
        </p:nvSpPr>
        <p:spPr>
          <a:xfrm>
            <a:off x="6697638" y="2205112"/>
            <a:ext cx="653504" cy="122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Lora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04</a:t>
            </a:r>
            <a:endParaRPr b="0" i="0" sz="750" u="none" cap="none" strike="noStrike"/>
          </a:p>
        </p:txBody>
      </p:sp>
      <p:pic>
        <p:nvPicPr>
          <p:cNvPr descr="preencoded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7638" y="2347764"/>
            <a:ext cx="1900089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6697638" y="2435200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Генерация и реестр</a:t>
            </a:r>
            <a:endParaRPr b="0" i="0" sz="90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6697638" y="2653159"/>
            <a:ext cx="1900089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Создание новых единиц, управление ID и аналитика</a:t>
            </a:r>
            <a:endParaRPr b="0" i="0" sz="750" u="none" cap="none" strike="noStrike"/>
          </a:p>
        </p:txBody>
      </p:sp>
      <p:sp>
        <p:nvSpPr>
          <p:cNvPr id="120" name="Google Shape;120;p15"/>
          <p:cNvSpPr/>
          <p:nvPr/>
        </p:nvSpPr>
        <p:spPr>
          <a:xfrm>
            <a:off x="523577" y="3172048"/>
            <a:ext cx="8096845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23577" y="3333824"/>
            <a:ext cx="199385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Предметные области по ТЗ</a:t>
            </a:r>
            <a:endParaRPr b="0" i="0" sz="90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523577" y="3569047"/>
            <a:ext cx="4011588" cy="522163"/>
          </a:xfrm>
          <a:prstGeom prst="roundRect">
            <a:avLst>
              <a:gd fmla="val 2820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621729" y="3686770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CS Fundamentals</a:t>
            </a:r>
            <a:endParaRPr b="0" i="0" sz="900" u="none" cap="none" strike="noStrike"/>
          </a:p>
        </p:txBody>
      </p:sp>
      <p:sp>
        <p:nvSpPr>
          <p:cNvPr id="124" name="Google Shape;124;p15"/>
          <p:cNvSpPr/>
          <p:nvPr/>
        </p:nvSpPr>
        <p:spPr>
          <a:xfrm>
            <a:off x="621729" y="3875261"/>
            <a:ext cx="4272483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Фундаментальные основы Computer Science</a:t>
            </a:r>
            <a:endParaRPr b="0" i="0" sz="750" u="none" cap="none" strike="noStrike"/>
          </a:p>
        </p:txBody>
      </p:sp>
      <p:sp>
        <p:nvSpPr>
          <p:cNvPr id="125" name="Google Shape;125;p15"/>
          <p:cNvSpPr/>
          <p:nvPr/>
        </p:nvSpPr>
        <p:spPr>
          <a:xfrm>
            <a:off x="4608761" y="3569047"/>
            <a:ext cx="4011662" cy="522163"/>
          </a:xfrm>
          <a:prstGeom prst="roundRect">
            <a:avLst>
              <a:gd fmla="val 2820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4706913" y="3686770"/>
            <a:ext cx="2065883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Architecture / System Design</a:t>
            </a:r>
            <a:endParaRPr b="0" i="0" sz="90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4706913" y="3875261"/>
            <a:ext cx="4272558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Проектирование и архитектура программных систем</a:t>
            </a:r>
            <a:endParaRPr b="0" i="0" sz="750" u="none" cap="none" strike="noStrike"/>
          </a:p>
        </p:txBody>
      </p:sp>
      <p:sp>
        <p:nvSpPr>
          <p:cNvPr id="128" name="Google Shape;128;p15"/>
          <p:cNvSpPr/>
          <p:nvPr/>
        </p:nvSpPr>
        <p:spPr>
          <a:xfrm>
            <a:off x="523577" y="4164806"/>
            <a:ext cx="4011588" cy="522163"/>
          </a:xfrm>
          <a:prstGeom prst="roundRect">
            <a:avLst>
              <a:gd fmla="val 2820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21729" y="4282529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Interview Process</a:t>
            </a:r>
            <a:endParaRPr b="0" i="0" sz="900" u="none" cap="none" strike="noStrike"/>
          </a:p>
        </p:txBody>
      </p:sp>
      <p:sp>
        <p:nvSpPr>
          <p:cNvPr id="130" name="Google Shape;130;p15"/>
          <p:cNvSpPr/>
          <p:nvPr/>
        </p:nvSpPr>
        <p:spPr>
          <a:xfrm>
            <a:off x="621729" y="4471020"/>
            <a:ext cx="4272483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Процесс собеседования и soft skills</a:t>
            </a:r>
            <a:endParaRPr b="0" i="0" sz="75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4608761" y="4164806"/>
            <a:ext cx="4011662" cy="522163"/>
          </a:xfrm>
          <a:prstGeom prst="roundRect">
            <a:avLst>
              <a:gd fmla="val 2820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4706913" y="4282529"/>
            <a:ext cx="1616794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Глобальный уровень</a:t>
            </a:r>
            <a:endParaRPr b="0" i="0" sz="900" u="none" cap="none" strike="noStrike"/>
          </a:p>
        </p:txBody>
      </p:sp>
      <p:sp>
        <p:nvSpPr>
          <p:cNvPr id="133" name="Google Shape;133;p15"/>
          <p:cNvSpPr/>
          <p:nvPr/>
        </p:nvSpPr>
        <p:spPr>
          <a:xfrm>
            <a:off x="4706913" y="4471020"/>
            <a:ext cx="4272558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Терминология, связи, персонализированные траектории</a:t>
            </a:r>
            <a:endParaRPr b="0" i="0" sz="750" u="none" cap="none" strike="noStrike"/>
          </a:p>
        </p:txBody>
      </p:sp>
      <p:sp>
        <p:nvSpPr>
          <p:cNvPr id="134" name="Google Shape;134;p15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343570" y="281657"/>
            <a:ext cx="1015157" cy="50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350"/>
              <a:buFont typeface="Source Sans 3"/>
              <a:buNone/>
            </a:pPr>
            <a:r>
              <a:rPr b="0" i="0" lang="en-US" sz="350" u="none" cap="none" strike="noStrike">
                <a:solidFill>
                  <a:srgbClr val="B4C6CA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ТЕХНИЧЕСКАЯ АРХИТЕКТУРА</a:t>
            </a:r>
            <a:endParaRPr b="0" i="0" sz="350" u="none" cap="none" strike="noStrike"/>
          </a:p>
        </p:txBody>
      </p:sp>
      <p:sp>
        <p:nvSpPr>
          <p:cNvPr id="141" name="Google Shape;141;p16"/>
          <p:cNvSpPr/>
          <p:nvPr/>
        </p:nvSpPr>
        <p:spPr>
          <a:xfrm>
            <a:off x="343570" y="358825"/>
            <a:ext cx="2785616" cy="164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000"/>
              <a:buFont typeface="Lora"/>
              <a:buNone/>
            </a:pPr>
            <a:r>
              <a:rPr b="0" i="0" lang="en-US" sz="10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Структура проекта и модель данных</a:t>
            </a:r>
            <a:endParaRPr b="0" i="0" sz="1000" u="none" cap="none" strike="noStrike"/>
          </a:p>
        </p:txBody>
      </p:sp>
      <p:sp>
        <p:nvSpPr>
          <p:cNvPr id="142" name="Google Shape;142;p16"/>
          <p:cNvSpPr/>
          <p:nvPr/>
        </p:nvSpPr>
        <p:spPr>
          <a:xfrm>
            <a:off x="343570" y="582588"/>
            <a:ext cx="1150069" cy="8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500"/>
              <a:buFont typeface="Lora"/>
              <a:buNone/>
            </a:pPr>
            <a:r>
              <a:rPr b="0" i="0" lang="en-US" sz="5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Архитектура модулей</a:t>
            </a:r>
            <a:endParaRPr b="0" i="0" sz="500" u="none" cap="none" strike="noStrike"/>
          </a:p>
        </p:txBody>
      </p:sp>
      <p:sp>
        <p:nvSpPr>
          <p:cNvPr id="143" name="Google Shape;143;p16"/>
          <p:cNvSpPr/>
          <p:nvPr/>
        </p:nvSpPr>
        <p:spPr>
          <a:xfrm>
            <a:off x="427286" y="747266"/>
            <a:ext cx="3732758" cy="55811"/>
          </a:xfrm>
          <a:prstGeom prst="roundRect">
            <a:avLst>
              <a:gd fmla="val 15008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343570" y="691418"/>
            <a:ext cx="167506" cy="167506"/>
          </a:xfrm>
          <a:prstGeom prst="roundRect">
            <a:avLst>
              <a:gd fmla="val 17059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465" y="733313"/>
            <a:ext cx="83716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99380" y="882774"/>
            <a:ext cx="656927" cy="8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Consolas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main.py</a:t>
            </a:r>
            <a:endParaRPr b="0" i="0" sz="500" u="none" cap="none" strike="noStrike"/>
          </a:p>
        </p:txBody>
      </p:sp>
      <p:sp>
        <p:nvSpPr>
          <p:cNvPr id="147" name="Google Shape;147;p16"/>
          <p:cNvSpPr/>
          <p:nvPr/>
        </p:nvSpPr>
        <p:spPr>
          <a:xfrm>
            <a:off x="399380" y="993428"/>
            <a:ext cx="3704927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Точка входа CLI. Argparse, маршрутизация команд, загрузка данных.</a:t>
            </a:r>
            <a:endParaRPr b="0" i="0" sz="400" u="none" cap="none" strike="noStrike"/>
          </a:p>
        </p:txBody>
      </p:sp>
      <p:sp>
        <p:nvSpPr>
          <p:cNvPr id="148" name="Google Shape;148;p16"/>
          <p:cNvSpPr/>
          <p:nvPr/>
        </p:nvSpPr>
        <p:spPr>
          <a:xfrm>
            <a:off x="511001" y="1192485"/>
            <a:ext cx="3649042" cy="55811"/>
          </a:xfrm>
          <a:prstGeom prst="roundRect">
            <a:avLst>
              <a:gd fmla="val 15008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427286" y="1136638"/>
            <a:ext cx="167506" cy="167506"/>
          </a:xfrm>
          <a:prstGeom prst="roundRect">
            <a:avLst>
              <a:gd fmla="val 17059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181" y="1178533"/>
            <a:ext cx="83716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/>
          <p:nvPr/>
        </p:nvSpPr>
        <p:spPr>
          <a:xfrm>
            <a:off x="483096" y="1327993"/>
            <a:ext cx="656927" cy="8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Lora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Пакет </a:t>
            </a:r>
            <a:r>
              <a:rPr b="0" i="0" lang="en-US" sz="5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kb/</a:t>
            </a:r>
            <a:endParaRPr b="0" i="0" sz="500" u="none" cap="none" strike="noStrike"/>
          </a:p>
        </p:txBody>
      </p:sp>
      <p:sp>
        <p:nvSpPr>
          <p:cNvPr id="152" name="Google Shape;152;p16"/>
          <p:cNvSpPr/>
          <p:nvPr/>
        </p:nvSpPr>
        <p:spPr>
          <a:xfrm>
            <a:off x="483096" y="1438647"/>
            <a:ext cx="3621212" cy="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parser.py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validator.py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search.py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registry.py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generator.py</a:t>
            </a:r>
            <a:endParaRPr b="0" i="0" sz="400" u="none" cap="none" strike="noStrike"/>
          </a:p>
        </p:txBody>
      </p:sp>
      <p:sp>
        <p:nvSpPr>
          <p:cNvPr id="153" name="Google Shape;153;p16"/>
          <p:cNvSpPr/>
          <p:nvPr/>
        </p:nvSpPr>
        <p:spPr>
          <a:xfrm>
            <a:off x="594792" y="1642467"/>
            <a:ext cx="3565252" cy="55811"/>
          </a:xfrm>
          <a:prstGeom prst="roundRect">
            <a:avLst>
              <a:gd fmla="val 15008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11076" y="1586619"/>
            <a:ext cx="167506" cy="167506"/>
          </a:xfrm>
          <a:prstGeom prst="roundRect">
            <a:avLst>
              <a:gd fmla="val 17059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971" y="1628515"/>
            <a:ext cx="83716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/>
          <p:nvPr/>
        </p:nvSpPr>
        <p:spPr>
          <a:xfrm>
            <a:off x="566886" y="1777975"/>
            <a:ext cx="656927" cy="8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Consolas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tests/</a:t>
            </a:r>
            <a:endParaRPr b="0" i="0" sz="500" u="none" cap="none" strike="noStrike"/>
          </a:p>
        </p:txBody>
      </p:sp>
      <p:sp>
        <p:nvSpPr>
          <p:cNvPr id="157" name="Google Shape;157;p16"/>
          <p:cNvSpPr/>
          <p:nvPr/>
        </p:nvSpPr>
        <p:spPr>
          <a:xfrm>
            <a:off x="566886" y="1888629"/>
            <a:ext cx="3537421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Автоматические тесты всех модулей. </a:t>
            </a:r>
            <a:r>
              <a:rPr b="1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177 passed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в 0.08s.</a:t>
            </a:r>
            <a:endParaRPr b="0" i="0" sz="400" u="none" cap="none" strike="noStrike"/>
          </a:p>
        </p:txBody>
      </p:sp>
      <p:sp>
        <p:nvSpPr>
          <p:cNvPr id="158" name="Google Shape;158;p16"/>
          <p:cNvSpPr/>
          <p:nvPr/>
        </p:nvSpPr>
        <p:spPr>
          <a:xfrm>
            <a:off x="343570" y="2034853"/>
            <a:ext cx="3816548" cy="162520"/>
          </a:xfrm>
          <a:prstGeom prst="roundRect">
            <a:avLst>
              <a:gd fmla="val 5154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380" y="2104579"/>
            <a:ext cx="69800" cy="5581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/>
          <p:nvPr/>
        </p:nvSpPr>
        <p:spPr>
          <a:xfrm>
            <a:off x="524991" y="2072580"/>
            <a:ext cx="4036516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Модули разделены по ответственности: вход, логика знаний и контроль качества.</a:t>
            </a:r>
            <a:endParaRPr b="0" i="0" sz="400" u="none" cap="none" strike="noStrike"/>
          </a:p>
        </p:txBody>
      </p:sp>
      <p:sp>
        <p:nvSpPr>
          <p:cNvPr id="161" name="Google Shape;161;p16"/>
          <p:cNvSpPr/>
          <p:nvPr/>
        </p:nvSpPr>
        <p:spPr>
          <a:xfrm>
            <a:off x="4260875" y="558775"/>
            <a:ext cx="4584427" cy="2337197"/>
          </a:xfrm>
          <a:prstGeom prst="roundRect">
            <a:avLst>
              <a:gd fmla="val 358" name="adj"/>
            </a:avLst>
          </a:prstGeom>
          <a:solidFill>
            <a:srgbClr val="1F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4316685" y="582588"/>
            <a:ext cx="1507927" cy="8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500"/>
              <a:buFont typeface="Lora"/>
              <a:buNone/>
            </a:pPr>
            <a:r>
              <a:rPr b="0" i="0" lang="en-US" sz="5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Модель данных: единица знаний</a:t>
            </a:r>
            <a:endParaRPr b="0" i="0" sz="500" u="none" cap="none" strike="noStrike"/>
          </a:p>
        </p:txBody>
      </p:sp>
      <p:sp>
        <p:nvSpPr>
          <p:cNvPr id="163" name="Google Shape;163;p16"/>
          <p:cNvSpPr/>
          <p:nvPr/>
        </p:nvSpPr>
        <p:spPr>
          <a:xfrm>
            <a:off x="4316685" y="688479"/>
            <a:ext cx="4827315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Формат: </a:t>
            </a:r>
            <a:r>
              <a:rPr b="1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Markdown + YAML frontmatter</a:t>
            </a:r>
            <a:endParaRPr b="0" i="0" sz="400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4316685" y="778892"/>
            <a:ext cx="4472806" cy="295424"/>
          </a:xfrm>
          <a:prstGeom prst="roundRect">
            <a:avLst>
              <a:gd fmla="val 7738" name="adj"/>
            </a:avLst>
          </a:prstGeom>
          <a:solidFill>
            <a:srgbClr val="1F2B45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1923" y="778892"/>
            <a:ext cx="19050" cy="2954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/>
          <p:nvPr/>
        </p:nvSpPr>
        <p:spPr>
          <a:xfrm>
            <a:off x="4391546" y="839465"/>
            <a:ext cx="976759" cy="8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Lora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Идентификатор и метаданные</a:t>
            </a:r>
            <a:endParaRPr b="0" i="0" sz="500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4391546" y="945356"/>
            <a:ext cx="4337372" cy="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domain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category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difficulty</a:t>
            </a:r>
            <a:endParaRPr b="0" i="0" sz="400" u="none" cap="none" strike="noStrike"/>
          </a:p>
        </p:txBody>
      </p:sp>
      <p:sp>
        <p:nvSpPr>
          <p:cNvPr id="168" name="Google Shape;168;p16"/>
          <p:cNvSpPr/>
          <p:nvPr/>
        </p:nvSpPr>
        <p:spPr>
          <a:xfrm>
            <a:off x="4316685" y="1098128"/>
            <a:ext cx="4472806" cy="295424"/>
          </a:xfrm>
          <a:prstGeom prst="roundRect">
            <a:avLst>
              <a:gd fmla="val 7738" name="adj"/>
            </a:avLst>
          </a:prstGeom>
          <a:solidFill>
            <a:srgbClr val="1F2B45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1923" y="1098128"/>
            <a:ext cx="19050" cy="2954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4391546" y="1158701"/>
            <a:ext cx="656927" cy="8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Lora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Связи и контекст</a:t>
            </a:r>
            <a:endParaRPr b="0" i="0" sz="500" u="none" cap="none" strike="noStrike"/>
          </a:p>
        </p:txBody>
      </p:sp>
      <p:sp>
        <p:nvSpPr>
          <p:cNvPr id="171" name="Google Shape;171;p16"/>
          <p:cNvSpPr/>
          <p:nvPr/>
        </p:nvSpPr>
        <p:spPr>
          <a:xfrm>
            <a:off x="4391546" y="1264593"/>
            <a:ext cx="4337372" cy="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tags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roles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related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prerequisites</a:t>
            </a:r>
            <a:endParaRPr b="0" i="0" sz="400" u="none" cap="none" strike="noStrike"/>
          </a:p>
        </p:txBody>
      </p:sp>
      <p:sp>
        <p:nvSpPr>
          <p:cNvPr id="172" name="Google Shape;172;p16"/>
          <p:cNvSpPr/>
          <p:nvPr/>
        </p:nvSpPr>
        <p:spPr>
          <a:xfrm>
            <a:off x="4316685" y="1417365"/>
            <a:ext cx="4472806" cy="295424"/>
          </a:xfrm>
          <a:prstGeom prst="roundRect">
            <a:avLst>
              <a:gd fmla="val 7738" name="adj"/>
            </a:avLst>
          </a:prstGeom>
          <a:solidFill>
            <a:srgbClr val="1F2B45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1923" y="1417365"/>
            <a:ext cx="19050" cy="29542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4391546" y="1477938"/>
            <a:ext cx="656927" cy="8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Lora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Источники и статус</a:t>
            </a:r>
            <a:endParaRPr b="0" i="0" sz="500" u="none" cap="none" strike="noStrike"/>
          </a:p>
        </p:txBody>
      </p:sp>
      <p:sp>
        <p:nvSpPr>
          <p:cNvPr id="175" name="Google Shape;175;p16"/>
          <p:cNvSpPr/>
          <p:nvPr/>
        </p:nvSpPr>
        <p:spPr>
          <a:xfrm>
            <a:off x="4391546" y="1583829"/>
            <a:ext cx="4337372" cy="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sources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→ ссылочная база, </a:t>
            </a:r>
            <a:r>
              <a:rPr b="0" i="0" lang="en-US" sz="400" u="none" cap="none" strike="noStrike">
                <a:solidFill>
                  <a:srgbClr val="D6E5E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→ жизненный цикл материала</a:t>
            </a:r>
            <a:endParaRPr b="0" i="0" sz="400" u="none" cap="none" strike="noStrike"/>
          </a:p>
        </p:txBody>
      </p:sp>
      <p:sp>
        <p:nvSpPr>
          <p:cNvPr id="176" name="Google Shape;176;p16"/>
          <p:cNvSpPr/>
          <p:nvPr/>
        </p:nvSpPr>
        <p:spPr>
          <a:xfrm>
            <a:off x="4316685" y="1739578"/>
            <a:ext cx="4472806" cy="1129605"/>
          </a:xfrm>
          <a:prstGeom prst="roundRect">
            <a:avLst>
              <a:gd fmla="val 742" name="adj"/>
            </a:avLst>
          </a:prstGeom>
          <a:solidFill>
            <a:srgbClr val="2C38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4313932" y="1739578"/>
            <a:ext cx="4478313" cy="1129605"/>
          </a:xfrm>
          <a:prstGeom prst="roundRect">
            <a:avLst>
              <a:gd fmla="val 742" name="adj"/>
            </a:avLst>
          </a:prstGeom>
          <a:solidFill>
            <a:srgbClr val="2C38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4383732" y="1795388"/>
            <a:ext cx="4338712" cy="1017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id: CS-CONCEPT-007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title: "Deadlock: причины и решения"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domain: cs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category: concept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difficulty: middle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tags: [deadlock, concurrency]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roles: [backend, sre]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interview_stage: technical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frequency: high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related: [CS-CONCEPT-005]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prerequisites: []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sources: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  - "OSTEP, Chapter 32"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status: review</a:t>
            </a:r>
            <a:endParaRPr b="0" i="0" sz="400" u="none" cap="none" strike="noStrike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79C0FF"/>
                </a:solidFill>
                <a:highlight>
                  <a:srgbClr val="2C3852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b="0" i="0" sz="400" u="none" cap="none" strike="noStrike"/>
          </a:p>
        </p:txBody>
      </p:sp>
      <p:sp>
        <p:nvSpPr>
          <p:cNvPr id="179" name="Google Shape;179;p16"/>
          <p:cNvSpPr/>
          <p:nvPr/>
        </p:nvSpPr>
        <p:spPr>
          <a:xfrm>
            <a:off x="343570" y="2936677"/>
            <a:ext cx="8456861" cy="4167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343570" y="2990478"/>
            <a:ext cx="1114127" cy="8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500"/>
              <a:buFont typeface="Lora"/>
              <a:buNone/>
            </a:pPr>
            <a:r>
              <a:rPr b="0" i="0" lang="en-US" sz="5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CLI-команды</a:t>
            </a:r>
            <a:endParaRPr b="0" i="0" sz="500" u="none" cap="none" strike="noStrike"/>
          </a:p>
        </p:txBody>
      </p:sp>
      <p:sp>
        <p:nvSpPr>
          <p:cNvPr id="181" name="Google Shape;181;p16"/>
          <p:cNvSpPr/>
          <p:nvPr/>
        </p:nvSpPr>
        <p:spPr>
          <a:xfrm>
            <a:off x="343570" y="3108275"/>
            <a:ext cx="8456861" cy="335012"/>
          </a:xfrm>
          <a:prstGeom prst="roundRect">
            <a:avLst>
              <a:gd fmla="val 2500" name="adj"/>
            </a:avLst>
          </a:prstGeom>
          <a:solidFill>
            <a:srgbClr val="252833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348332" y="3113038"/>
            <a:ext cx="223317" cy="325487"/>
          </a:xfrm>
          <a:prstGeom prst="roundRect">
            <a:avLst>
              <a:gd fmla="val 1192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8133" y="3233886"/>
            <a:ext cx="83716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/>
          <p:nvPr/>
        </p:nvSpPr>
        <p:spPr>
          <a:xfrm>
            <a:off x="595461" y="3168848"/>
            <a:ext cx="656927" cy="8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Consolas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</a:t>
            </a:r>
            <a:endParaRPr b="0" i="0" sz="500" u="none" cap="none" strike="noStrike"/>
          </a:p>
        </p:txBody>
      </p:sp>
      <p:sp>
        <p:nvSpPr>
          <p:cNvPr id="185" name="Google Shape;185;p16"/>
          <p:cNvSpPr/>
          <p:nvPr/>
        </p:nvSpPr>
        <p:spPr>
          <a:xfrm>
            <a:off x="595461" y="3269977"/>
            <a:ext cx="8144396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Подобрать материалы под роль, уровень, этап</a:t>
            </a:r>
            <a:endParaRPr b="0" i="0" sz="400" u="none" cap="none" strike="noStrike"/>
          </a:p>
        </p:txBody>
      </p:sp>
      <p:sp>
        <p:nvSpPr>
          <p:cNvPr id="186" name="Google Shape;186;p16"/>
          <p:cNvSpPr/>
          <p:nvPr/>
        </p:nvSpPr>
        <p:spPr>
          <a:xfrm>
            <a:off x="343570" y="3467100"/>
            <a:ext cx="8456861" cy="335012"/>
          </a:xfrm>
          <a:prstGeom prst="roundRect">
            <a:avLst>
              <a:gd fmla="val 2500" name="adj"/>
            </a:avLst>
          </a:prstGeom>
          <a:solidFill>
            <a:srgbClr val="252833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348332" y="3471863"/>
            <a:ext cx="223317" cy="325487"/>
          </a:xfrm>
          <a:prstGeom prst="roundRect">
            <a:avLst>
              <a:gd fmla="val 1192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8133" y="3592711"/>
            <a:ext cx="83716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595461" y="3527673"/>
            <a:ext cx="656927" cy="8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Consolas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validate</a:t>
            </a:r>
            <a:endParaRPr b="0" i="0" sz="500" u="none" cap="none" strike="noStrike"/>
          </a:p>
        </p:txBody>
      </p:sp>
      <p:sp>
        <p:nvSpPr>
          <p:cNvPr id="190" name="Google Shape;190;p16"/>
          <p:cNvSpPr/>
          <p:nvPr/>
        </p:nvSpPr>
        <p:spPr>
          <a:xfrm>
            <a:off x="595461" y="3628802"/>
            <a:ext cx="8144396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Найти ошибки и предупреждения в метаданных</a:t>
            </a:r>
            <a:endParaRPr b="0" i="0" sz="400" u="none" cap="none" strike="noStrike"/>
          </a:p>
        </p:txBody>
      </p:sp>
      <p:sp>
        <p:nvSpPr>
          <p:cNvPr id="191" name="Google Shape;191;p16"/>
          <p:cNvSpPr/>
          <p:nvPr/>
        </p:nvSpPr>
        <p:spPr>
          <a:xfrm>
            <a:off x="343570" y="3825925"/>
            <a:ext cx="8456861" cy="335012"/>
          </a:xfrm>
          <a:prstGeom prst="roundRect">
            <a:avLst>
              <a:gd fmla="val 2500" name="adj"/>
            </a:avLst>
          </a:prstGeom>
          <a:solidFill>
            <a:srgbClr val="252833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348332" y="3830687"/>
            <a:ext cx="223317" cy="325487"/>
          </a:xfrm>
          <a:prstGeom prst="roundRect">
            <a:avLst>
              <a:gd fmla="val 1192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8133" y="3951536"/>
            <a:ext cx="83716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/>
          <p:nvPr/>
        </p:nvSpPr>
        <p:spPr>
          <a:xfrm>
            <a:off x="595461" y="3886498"/>
            <a:ext cx="656927" cy="8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Consolas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registry</a:t>
            </a:r>
            <a:endParaRPr b="0" i="0" sz="500" u="none" cap="none" strike="noStrike"/>
          </a:p>
        </p:txBody>
      </p:sp>
      <p:sp>
        <p:nvSpPr>
          <p:cNvPr id="195" name="Google Shape;195;p16"/>
          <p:cNvSpPr/>
          <p:nvPr/>
        </p:nvSpPr>
        <p:spPr>
          <a:xfrm>
            <a:off x="595461" y="3987626"/>
            <a:ext cx="8144396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Централизованный реестр ID</a:t>
            </a:r>
            <a:endParaRPr b="0" i="0" sz="400" u="none" cap="none" strike="noStrike"/>
          </a:p>
        </p:txBody>
      </p:sp>
      <p:sp>
        <p:nvSpPr>
          <p:cNvPr id="196" name="Google Shape;196;p16"/>
          <p:cNvSpPr/>
          <p:nvPr/>
        </p:nvSpPr>
        <p:spPr>
          <a:xfrm>
            <a:off x="343570" y="4184749"/>
            <a:ext cx="8456861" cy="335012"/>
          </a:xfrm>
          <a:prstGeom prst="roundRect">
            <a:avLst>
              <a:gd fmla="val 2500" name="adj"/>
            </a:avLst>
          </a:prstGeom>
          <a:solidFill>
            <a:srgbClr val="252833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348332" y="4189512"/>
            <a:ext cx="223317" cy="325487"/>
          </a:xfrm>
          <a:prstGeom prst="roundRect">
            <a:avLst>
              <a:gd fmla="val 1192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8133" y="4310360"/>
            <a:ext cx="83716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/>
          <p:nvPr/>
        </p:nvSpPr>
        <p:spPr>
          <a:xfrm>
            <a:off x="595461" y="4245322"/>
            <a:ext cx="656927" cy="8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Consolas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endParaRPr b="0" i="0" sz="500" u="none" cap="none" strike="noStrike"/>
          </a:p>
        </p:txBody>
      </p:sp>
      <p:sp>
        <p:nvSpPr>
          <p:cNvPr id="200" name="Google Shape;200;p16"/>
          <p:cNvSpPr/>
          <p:nvPr/>
        </p:nvSpPr>
        <p:spPr>
          <a:xfrm>
            <a:off x="595461" y="4346451"/>
            <a:ext cx="8144396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Создать новую единицу по шаблону</a:t>
            </a:r>
            <a:endParaRPr b="0" i="0" sz="400" u="none" cap="none" strike="noStrike"/>
          </a:p>
        </p:txBody>
      </p:sp>
      <p:sp>
        <p:nvSpPr>
          <p:cNvPr id="201" name="Google Shape;201;p16"/>
          <p:cNvSpPr/>
          <p:nvPr/>
        </p:nvSpPr>
        <p:spPr>
          <a:xfrm>
            <a:off x="343570" y="4543574"/>
            <a:ext cx="8456861" cy="335012"/>
          </a:xfrm>
          <a:prstGeom prst="roundRect">
            <a:avLst>
              <a:gd fmla="val 2500" name="adj"/>
            </a:avLst>
          </a:prstGeom>
          <a:solidFill>
            <a:srgbClr val="252833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348332" y="4548336"/>
            <a:ext cx="223317" cy="325487"/>
          </a:xfrm>
          <a:prstGeom prst="roundRect">
            <a:avLst>
              <a:gd fmla="val 1192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18133" y="4669185"/>
            <a:ext cx="83716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6"/>
          <p:cNvSpPr/>
          <p:nvPr/>
        </p:nvSpPr>
        <p:spPr>
          <a:xfrm>
            <a:off x="595461" y="4604147"/>
            <a:ext cx="656927" cy="8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00"/>
              <a:buFont typeface="Consolas"/>
              <a:buNone/>
            </a:pPr>
            <a:r>
              <a:rPr b="0" i="0" lang="en-US" sz="5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stats</a:t>
            </a:r>
            <a:endParaRPr b="0" i="0" sz="500" u="none" cap="none" strike="noStrike"/>
          </a:p>
        </p:txBody>
      </p:sp>
      <p:sp>
        <p:nvSpPr>
          <p:cNvPr id="205" name="Google Shape;205;p16"/>
          <p:cNvSpPr/>
          <p:nvPr/>
        </p:nvSpPr>
        <p:spPr>
          <a:xfrm>
            <a:off x="595461" y="4705276"/>
            <a:ext cx="8144396" cy="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00"/>
              <a:buFont typeface="Source Sans 3"/>
              <a:buNone/>
            </a:pPr>
            <a:r>
              <a:rPr b="0" i="0" lang="en-US" sz="4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Обзор состояния базы знаний</a:t>
            </a:r>
            <a:endParaRPr b="0" i="0" sz="400" u="none" cap="none" strike="noStrike"/>
          </a:p>
        </p:txBody>
      </p:sp>
      <p:sp>
        <p:nvSpPr>
          <p:cNvPr id="206" name="Google Shape;206;p16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/>
          <p:nvPr/>
        </p:nvSpPr>
        <p:spPr>
          <a:xfrm>
            <a:off x="523577" y="493216"/>
            <a:ext cx="1267495" cy="12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650"/>
              <a:buFont typeface="Source Sans 3"/>
              <a:buNone/>
            </a:pPr>
            <a:r>
              <a:rPr b="0" i="0" lang="en-US" sz="650" u="none" cap="none" strike="noStrike">
                <a:solidFill>
                  <a:srgbClr val="B4C6CA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ТЕХНИЧЕСКИЙ ОБЗОР</a:t>
            </a:r>
            <a:endParaRPr b="0" i="0" sz="650" u="none" cap="none" strike="noStrike"/>
          </a:p>
        </p:txBody>
      </p:sp>
      <p:sp>
        <p:nvSpPr>
          <p:cNvPr id="213" name="Google Shape;213;p17"/>
          <p:cNvSpPr/>
          <p:nvPr/>
        </p:nvSpPr>
        <p:spPr>
          <a:xfrm>
            <a:off x="523577" y="678731"/>
            <a:ext cx="6449318" cy="30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900"/>
              <a:buFont typeface="Lora"/>
              <a:buNone/>
            </a:pPr>
            <a:r>
              <a:rPr b="0" i="0" lang="en-US" sz="1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Технологический стек и инструменты разработки</a:t>
            </a:r>
            <a:endParaRPr b="0" i="0" sz="1900" u="none" cap="none" strike="noStrike"/>
          </a:p>
        </p:txBody>
      </p:sp>
      <p:sp>
        <p:nvSpPr>
          <p:cNvPr id="214" name="Google Shape;214;p17"/>
          <p:cNvSpPr/>
          <p:nvPr/>
        </p:nvSpPr>
        <p:spPr>
          <a:xfrm>
            <a:off x="523577" y="1112267"/>
            <a:ext cx="8096845" cy="30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00"/>
              <a:buFont typeface="Source Sans 3"/>
              <a:buNone/>
            </a:pPr>
            <a:r>
              <a:rPr b="0" i="0" lang="en-US" sz="8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Наша платформа использует компактный и эффективный набор технологий, чтобы обеспечить высокую производительность, структурированное управление контентом и удобную среду для разработчиков.</a:t>
            </a:r>
            <a:endParaRPr b="0" i="0" sz="800" u="none" cap="none" strike="noStrike"/>
          </a:p>
        </p:txBody>
      </p:sp>
      <p:pic>
        <p:nvPicPr>
          <p:cNvPr descr="preencoded.png"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508001"/>
            <a:ext cx="261789" cy="26178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/>
          <p:nvPr/>
        </p:nvSpPr>
        <p:spPr>
          <a:xfrm>
            <a:off x="523577" y="1874490"/>
            <a:ext cx="1232074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Основной язык</a:t>
            </a:r>
            <a:endParaRPr b="0" i="0" sz="950" u="none" cap="none" strike="noStrike"/>
          </a:p>
        </p:txBody>
      </p:sp>
      <p:sp>
        <p:nvSpPr>
          <p:cNvPr id="217" name="Google Shape;217;p17"/>
          <p:cNvSpPr/>
          <p:nvPr/>
        </p:nvSpPr>
        <p:spPr>
          <a:xfrm>
            <a:off x="523577" y="2078757"/>
            <a:ext cx="3400574" cy="425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650"/>
              <a:buFont typeface="Lora"/>
              <a:buNone/>
            </a:pPr>
            <a:r>
              <a:rPr b="0" i="0" lang="en-US" sz="26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Python</a:t>
            </a:r>
            <a:endParaRPr b="0" i="0" sz="2650" u="none" cap="none" strike="noStrike"/>
          </a:p>
        </p:txBody>
      </p:sp>
      <p:sp>
        <p:nvSpPr>
          <p:cNvPr id="218" name="Google Shape;218;p17"/>
          <p:cNvSpPr/>
          <p:nvPr/>
        </p:nvSpPr>
        <p:spPr>
          <a:xfrm>
            <a:off x="523577" y="2554039"/>
            <a:ext cx="3996035" cy="30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00"/>
              <a:buFont typeface="Source Sans 3"/>
              <a:buNone/>
            </a:pPr>
            <a:r>
              <a:rPr b="0" i="0" lang="en-US" sz="8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Основа всей системы, которая обеспечивает серверную логику, обработку данных и командные интерфейсы с максимальной гибкостью и удобством поддержки.</a:t>
            </a:r>
            <a:endParaRPr b="0" i="0" sz="800" u="none" cap="none" strike="noStrike"/>
          </a:p>
        </p:txBody>
      </p:sp>
      <p:pic>
        <p:nvPicPr>
          <p:cNvPr descr="preencoded.png" id="219" name="Google Shape;21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4313" y="1508001"/>
            <a:ext cx="261789" cy="26178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/>
          <p:nvPr/>
        </p:nvSpPr>
        <p:spPr>
          <a:xfrm>
            <a:off x="4624313" y="1874490"/>
            <a:ext cx="1232074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Формат контента</a:t>
            </a:r>
            <a:endParaRPr b="0" i="0" sz="950" u="none" cap="none" strike="noStrike"/>
          </a:p>
        </p:txBody>
      </p:sp>
      <p:sp>
        <p:nvSpPr>
          <p:cNvPr id="221" name="Google Shape;221;p17"/>
          <p:cNvSpPr/>
          <p:nvPr/>
        </p:nvSpPr>
        <p:spPr>
          <a:xfrm>
            <a:off x="4624313" y="2078757"/>
            <a:ext cx="3400574" cy="425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650"/>
              <a:buFont typeface="Lora"/>
              <a:buNone/>
            </a:pPr>
            <a:r>
              <a:rPr b="0" i="0" lang="en-US" sz="26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Markdown &amp; YAML</a:t>
            </a:r>
            <a:endParaRPr b="0" i="0" sz="2650" u="none" cap="none" strike="noStrike"/>
          </a:p>
        </p:txBody>
      </p:sp>
      <p:sp>
        <p:nvSpPr>
          <p:cNvPr id="222" name="Google Shape;222;p17"/>
          <p:cNvSpPr/>
          <p:nvPr/>
        </p:nvSpPr>
        <p:spPr>
          <a:xfrm>
            <a:off x="4624313" y="2554039"/>
            <a:ext cx="3996110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00"/>
              <a:buFont typeface="Source Sans 3"/>
              <a:buNone/>
            </a:pPr>
            <a:r>
              <a:rPr b="0" i="0" lang="en-US" sz="8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Использование Markdown для текстового контента и YAML для структурированных метаданных frontmatter, что делает базу знаний удобной для чтения человеком и обработки машиной.</a:t>
            </a:r>
            <a:endParaRPr b="0" i="0" sz="800" u="none" cap="none" strike="noStrike"/>
          </a:p>
        </p:txBody>
      </p:sp>
      <p:pic>
        <p:nvPicPr>
          <p:cNvPr descr="preencoded.png" id="223" name="Google Shape;2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77" y="3173834"/>
            <a:ext cx="261789" cy="26178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/>
          <p:nvPr/>
        </p:nvSpPr>
        <p:spPr>
          <a:xfrm>
            <a:off x="523577" y="3540323"/>
            <a:ext cx="1232074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CLI-фреймворк</a:t>
            </a:r>
            <a:endParaRPr b="0" i="0" sz="950" u="none" cap="none" strike="noStrike"/>
          </a:p>
        </p:txBody>
      </p:sp>
      <p:sp>
        <p:nvSpPr>
          <p:cNvPr id="225" name="Google Shape;225;p17"/>
          <p:cNvSpPr/>
          <p:nvPr/>
        </p:nvSpPr>
        <p:spPr>
          <a:xfrm>
            <a:off x="523577" y="3744590"/>
            <a:ext cx="3400574" cy="434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650"/>
              <a:buFont typeface="Consolas"/>
              <a:buNone/>
            </a:pPr>
            <a:r>
              <a:rPr b="0" i="0" lang="en-US" sz="26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argparse</a:t>
            </a:r>
            <a:endParaRPr b="0" i="0" sz="2650" u="none" cap="none" strike="noStrike"/>
          </a:p>
        </p:txBody>
      </p:sp>
      <p:sp>
        <p:nvSpPr>
          <p:cNvPr id="226" name="Google Shape;226;p17"/>
          <p:cNvSpPr/>
          <p:nvPr/>
        </p:nvSpPr>
        <p:spPr>
          <a:xfrm>
            <a:off x="523577" y="4229398"/>
            <a:ext cx="3996035" cy="30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00"/>
              <a:buFont typeface="Source Sans 3"/>
              <a:buNone/>
            </a:pPr>
            <a:r>
              <a:rPr b="0" i="0" lang="en-US" sz="8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Применяется для создания надежного и удобного командного интерфейса, обеспечивая эффективное взаимодействие со всеми возможностями платформы.</a:t>
            </a:r>
            <a:endParaRPr b="0" i="0" sz="800" u="none" cap="none" strike="noStrike"/>
          </a:p>
        </p:txBody>
      </p:sp>
      <p:pic>
        <p:nvPicPr>
          <p:cNvPr descr="preencoded.png" id="227" name="Google Shape;22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24313" y="3173834"/>
            <a:ext cx="261789" cy="26178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/>
          <p:nvPr/>
        </p:nvSpPr>
        <p:spPr>
          <a:xfrm>
            <a:off x="4624313" y="3540323"/>
            <a:ext cx="1232074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Тестирование и QA</a:t>
            </a:r>
            <a:endParaRPr b="0" i="0" sz="950" u="none" cap="none" strike="noStrike"/>
          </a:p>
        </p:txBody>
      </p:sp>
      <p:sp>
        <p:nvSpPr>
          <p:cNvPr id="229" name="Google Shape;229;p17"/>
          <p:cNvSpPr/>
          <p:nvPr/>
        </p:nvSpPr>
        <p:spPr>
          <a:xfrm>
            <a:off x="4624313" y="3744590"/>
            <a:ext cx="3400574" cy="434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650"/>
              <a:buFont typeface="Consolas"/>
              <a:buNone/>
            </a:pPr>
            <a:r>
              <a:rPr b="0" i="0" lang="en-US" sz="26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pytest</a:t>
            </a:r>
            <a:endParaRPr b="0" i="0" sz="2650" u="none" cap="none" strike="noStrike"/>
          </a:p>
        </p:txBody>
      </p:sp>
      <p:sp>
        <p:nvSpPr>
          <p:cNvPr id="230" name="Google Shape;230;p17"/>
          <p:cNvSpPr/>
          <p:nvPr/>
        </p:nvSpPr>
        <p:spPr>
          <a:xfrm>
            <a:off x="4624313" y="4229398"/>
            <a:ext cx="3996110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00"/>
              <a:buFont typeface="Source Sans 3"/>
              <a:buNone/>
            </a:pPr>
            <a:r>
              <a:rPr b="0" i="0" lang="en-US" sz="8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Используется для комплексного модульного и интеграционного тестирования, обеспечивая качество кода, надежность и предотвращение регрессий по всей кодовой базе.</a:t>
            </a:r>
            <a:endParaRPr b="0" i="0" sz="800" u="none" cap="none" strike="noStrike"/>
          </a:p>
        </p:txBody>
      </p:sp>
      <p:sp>
        <p:nvSpPr>
          <p:cNvPr id="231" name="Google Shape;231;p17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376312" y="332854"/>
            <a:ext cx="953244" cy="57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350"/>
              <a:buFont typeface="Source Sans 3"/>
              <a:buNone/>
            </a:pPr>
            <a:r>
              <a:rPr b="0" i="0" lang="en-US" sz="350" u="none" cap="none" strike="noStrike">
                <a:solidFill>
                  <a:srgbClr val="B4C6CA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КАЧЕСТВО И ПРОГРЕСС</a:t>
            </a:r>
            <a:endParaRPr b="0" i="0" sz="350" u="none" cap="none" strike="noStrike"/>
          </a:p>
        </p:txBody>
      </p:sp>
      <p:sp>
        <p:nvSpPr>
          <p:cNvPr id="238" name="Google Shape;238;p18"/>
          <p:cNvSpPr/>
          <p:nvPr/>
        </p:nvSpPr>
        <p:spPr>
          <a:xfrm>
            <a:off x="376312" y="419993"/>
            <a:ext cx="2943671" cy="179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Тестирование и текущее состояние</a:t>
            </a:r>
            <a:endParaRPr b="0" i="0" sz="1100" u="none" cap="none" strike="noStrike"/>
          </a:p>
        </p:txBody>
      </p:sp>
      <p:sp>
        <p:nvSpPr>
          <p:cNvPr id="239" name="Google Shape;239;p18"/>
          <p:cNvSpPr/>
          <p:nvPr/>
        </p:nvSpPr>
        <p:spPr>
          <a:xfrm>
            <a:off x="376312" y="671140"/>
            <a:ext cx="11767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Покрытие тестами</a:t>
            </a:r>
            <a:endParaRPr b="0" i="0" sz="550" u="none" cap="none" strike="noStrike"/>
          </a:p>
        </p:txBody>
      </p:sp>
      <p:pic>
        <p:nvPicPr>
          <p:cNvPr descr="preencoded.png"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312" y="793105"/>
            <a:ext cx="152846" cy="15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/>
          <p:nvPr/>
        </p:nvSpPr>
        <p:spPr>
          <a:xfrm>
            <a:off x="376312" y="981596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Парсинг</a:t>
            </a:r>
            <a:endParaRPr b="0" i="0" sz="550" u="none" cap="none" strike="noStrike"/>
          </a:p>
        </p:txBody>
      </p:sp>
      <p:sp>
        <p:nvSpPr>
          <p:cNvPr id="242" name="Google Shape;242;p18"/>
          <p:cNvSpPr/>
          <p:nvPr/>
        </p:nvSpPr>
        <p:spPr>
          <a:xfrm>
            <a:off x="376312" y="1099989"/>
            <a:ext cx="2256234" cy="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Тесты </a:t>
            </a:r>
            <a:r>
              <a:rPr b="0" i="0" lang="en-US" sz="4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parser.py</a:t>
            </a: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 корректная загрузка YAML, обработка ошибок, skip_errors</a:t>
            </a:r>
            <a:endParaRPr b="0" i="0" sz="450" u="none" cap="none" strike="noStrike"/>
          </a:p>
        </p:txBody>
      </p:sp>
      <p:pic>
        <p:nvPicPr>
          <p:cNvPr descr="preencoded.png" id="243" name="Google Shape;2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8191" y="793105"/>
            <a:ext cx="152846" cy="15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/>
          <p:nvPr/>
        </p:nvSpPr>
        <p:spPr>
          <a:xfrm>
            <a:off x="2668191" y="981596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Валидация</a:t>
            </a:r>
            <a:endParaRPr b="0" i="0" sz="550" u="none" cap="none" strike="noStrike"/>
          </a:p>
        </p:txBody>
      </p:sp>
      <p:sp>
        <p:nvSpPr>
          <p:cNvPr id="245" name="Google Shape;245;p18"/>
          <p:cNvSpPr/>
          <p:nvPr/>
        </p:nvSpPr>
        <p:spPr>
          <a:xfrm>
            <a:off x="2668191" y="1099989"/>
            <a:ext cx="2256234" cy="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Тесты </a:t>
            </a:r>
            <a:r>
              <a:rPr b="0" i="0" lang="en-US" sz="4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validator.py</a:t>
            </a: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 правила ID, допустимые значения, ссылочная целостность</a:t>
            </a:r>
            <a:endParaRPr b="0" i="0" sz="450" u="none" cap="none" strike="noStrike"/>
          </a:p>
        </p:txBody>
      </p:sp>
      <p:pic>
        <p:nvPicPr>
          <p:cNvPr descr="preencoded.png" id="246" name="Google Shape;2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312" y="1233562"/>
            <a:ext cx="152846" cy="15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8"/>
          <p:cNvSpPr/>
          <p:nvPr/>
        </p:nvSpPr>
        <p:spPr>
          <a:xfrm>
            <a:off x="376312" y="1422053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Поиск</a:t>
            </a:r>
            <a:endParaRPr b="0" i="0" sz="550" u="none" cap="none" strike="noStrike"/>
          </a:p>
        </p:txBody>
      </p:sp>
      <p:sp>
        <p:nvSpPr>
          <p:cNvPr id="248" name="Google Shape;248;p18"/>
          <p:cNvSpPr/>
          <p:nvPr/>
        </p:nvSpPr>
        <p:spPr>
          <a:xfrm>
            <a:off x="376312" y="1540446"/>
            <a:ext cx="2256234" cy="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Тесты </a:t>
            </a:r>
            <a:r>
              <a:rPr b="0" i="0" lang="en-US" sz="4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search.py</a:t>
            </a: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 фильтры, scoring, сортировка результатов</a:t>
            </a:r>
            <a:endParaRPr b="0" i="0" sz="450" u="none" cap="none" strike="noStrike"/>
          </a:p>
        </p:txBody>
      </p:sp>
      <p:pic>
        <p:nvPicPr>
          <p:cNvPr descr="preencoded.png" id="249" name="Google Shape;2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68191" y="1233562"/>
            <a:ext cx="152846" cy="15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8"/>
          <p:cNvSpPr/>
          <p:nvPr/>
        </p:nvSpPr>
        <p:spPr>
          <a:xfrm>
            <a:off x="2668191" y="1422053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Реестр и генерация</a:t>
            </a:r>
            <a:endParaRPr b="0" i="0" sz="550" u="none" cap="none" strike="noStrike"/>
          </a:p>
        </p:txBody>
      </p:sp>
      <p:sp>
        <p:nvSpPr>
          <p:cNvPr id="251" name="Google Shape;251;p18"/>
          <p:cNvSpPr/>
          <p:nvPr/>
        </p:nvSpPr>
        <p:spPr>
          <a:xfrm>
            <a:off x="2668191" y="1540446"/>
            <a:ext cx="2256234" cy="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Тесты </a:t>
            </a:r>
            <a:r>
              <a:rPr b="0" i="0" lang="en-US" sz="4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registry.py</a:t>
            </a: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и </a:t>
            </a:r>
            <a:r>
              <a:rPr b="0" i="0" lang="en-US" sz="4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generator.py</a:t>
            </a: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 ID-коллизии, шаблоны</a:t>
            </a:r>
            <a:endParaRPr b="0" i="0" sz="450" u="none" cap="none" strike="noStrike"/>
          </a:p>
        </p:txBody>
      </p:sp>
      <p:sp>
        <p:nvSpPr>
          <p:cNvPr id="252" name="Google Shape;252;p18"/>
          <p:cNvSpPr/>
          <p:nvPr/>
        </p:nvSpPr>
        <p:spPr>
          <a:xfrm>
            <a:off x="5034260" y="642640"/>
            <a:ext cx="3782169" cy="1006376"/>
          </a:xfrm>
          <a:prstGeom prst="roundRect">
            <a:avLst>
              <a:gd fmla="val 912" name="adj"/>
            </a:avLst>
          </a:prstGeom>
          <a:solidFill>
            <a:srgbClr val="314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6250112" y="671140"/>
            <a:ext cx="1121866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Главный маркер качества</a:t>
            </a:r>
            <a:endParaRPr b="0" i="0" sz="550" u="none" cap="none" strike="noStrike"/>
          </a:p>
        </p:txBody>
      </p:sp>
      <p:sp>
        <p:nvSpPr>
          <p:cNvPr id="254" name="Google Shape;254;p18"/>
          <p:cNvSpPr/>
          <p:nvPr/>
        </p:nvSpPr>
        <p:spPr>
          <a:xfrm>
            <a:off x="5257651" y="789533"/>
            <a:ext cx="3106713" cy="359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2250"/>
              <a:buFont typeface="Lora"/>
              <a:buNone/>
            </a:pPr>
            <a:r>
              <a:rPr b="0" i="0" lang="en-US" sz="2250" u="none" cap="none" strike="noStrike">
                <a:solidFill>
                  <a:srgbClr val="B4C6CA"/>
                </a:solidFill>
                <a:latin typeface="Lora"/>
                <a:ea typeface="Lora"/>
                <a:cs typeface="Lora"/>
                <a:sym typeface="Lora"/>
              </a:rPr>
              <a:t>177</a:t>
            </a:r>
            <a:endParaRPr b="0" i="0" sz="2250" u="none" cap="none" strike="noStrike"/>
          </a:p>
        </p:txBody>
      </p:sp>
      <p:sp>
        <p:nvSpPr>
          <p:cNvPr id="255" name="Google Shape;255;p18"/>
          <p:cNvSpPr/>
          <p:nvPr/>
        </p:nvSpPr>
        <p:spPr>
          <a:xfrm>
            <a:off x="6336953" y="1177826"/>
            <a:ext cx="9481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passed tests · 0.08s</a:t>
            </a:r>
            <a:endParaRPr b="0" i="0" sz="550" u="none" cap="none" strike="noStrike"/>
          </a:p>
        </p:txBody>
      </p:sp>
      <p:sp>
        <p:nvSpPr>
          <p:cNvPr id="256" name="Google Shape;256;p18"/>
          <p:cNvSpPr/>
          <p:nvPr/>
        </p:nvSpPr>
        <p:spPr>
          <a:xfrm>
            <a:off x="5095354" y="1299790"/>
            <a:ext cx="3659981" cy="179710"/>
          </a:xfrm>
          <a:prstGeom prst="roundRect">
            <a:avLst>
              <a:gd fmla="val 5105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6448" y="1376139"/>
            <a:ext cx="76423" cy="6109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/>
          <p:nvPr/>
        </p:nvSpPr>
        <p:spPr>
          <a:xfrm>
            <a:off x="5293965" y="1343546"/>
            <a:ext cx="3850035" cy="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  <a:r>
              <a:rPr b="0" i="0" lang="en-US" sz="4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Все тесты проходят. Ни одного сбоя.</a:t>
            </a:r>
            <a:endParaRPr b="0" i="0" sz="450" u="none" cap="none" strike="noStrike"/>
          </a:p>
        </p:txBody>
      </p:sp>
      <p:sp>
        <p:nvSpPr>
          <p:cNvPr id="259" name="Google Shape;259;p18"/>
          <p:cNvSpPr/>
          <p:nvPr/>
        </p:nvSpPr>
        <p:spPr>
          <a:xfrm>
            <a:off x="376312" y="1696343"/>
            <a:ext cx="8391376" cy="4539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376312" y="1758925"/>
            <a:ext cx="1585615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Текущее состояние базы знаний</a:t>
            </a:r>
            <a:endParaRPr b="0" i="0" sz="550" u="none" cap="none" strike="noStrike"/>
          </a:p>
        </p:txBody>
      </p:sp>
      <p:sp>
        <p:nvSpPr>
          <p:cNvPr id="261" name="Google Shape;261;p18"/>
          <p:cNvSpPr/>
          <p:nvPr/>
        </p:nvSpPr>
        <p:spPr>
          <a:xfrm>
            <a:off x="1107430" y="1922115"/>
            <a:ext cx="2715518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60</a:t>
            </a:r>
            <a:endParaRPr b="0" i="0" sz="1550" u="none" cap="none" strike="noStrike"/>
          </a:p>
        </p:txBody>
      </p:sp>
      <p:sp>
        <p:nvSpPr>
          <p:cNvPr id="262" name="Google Shape;262;p18"/>
          <p:cNvSpPr/>
          <p:nvPr/>
        </p:nvSpPr>
        <p:spPr>
          <a:xfrm>
            <a:off x="2105471" y="2175793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единиц знаний</a:t>
            </a:r>
            <a:endParaRPr b="0" i="0" sz="550" u="none" cap="none" strike="noStrike"/>
          </a:p>
        </p:txBody>
      </p:sp>
      <p:sp>
        <p:nvSpPr>
          <p:cNvPr id="263" name="Google Shape;263;p18"/>
          <p:cNvSpPr/>
          <p:nvPr/>
        </p:nvSpPr>
        <p:spPr>
          <a:xfrm>
            <a:off x="376312" y="2282800"/>
            <a:ext cx="4177829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Корректно парсируемых файлов</a:t>
            </a:r>
            <a:endParaRPr b="0" i="0" sz="450" u="none" cap="none" strike="noStrike"/>
          </a:p>
        </p:txBody>
      </p:sp>
      <p:sp>
        <p:nvSpPr>
          <p:cNvPr id="264" name="Google Shape;264;p18"/>
          <p:cNvSpPr/>
          <p:nvPr/>
        </p:nvSpPr>
        <p:spPr>
          <a:xfrm>
            <a:off x="5320903" y="1922115"/>
            <a:ext cx="2715592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20</a:t>
            </a:r>
            <a:endParaRPr b="0" i="0" sz="1550" u="none" cap="none" strike="noStrike"/>
          </a:p>
        </p:txBody>
      </p:sp>
      <p:sp>
        <p:nvSpPr>
          <p:cNvPr id="265" name="Google Shape;265;p18"/>
          <p:cNvSpPr/>
          <p:nvPr/>
        </p:nvSpPr>
        <p:spPr>
          <a:xfrm>
            <a:off x="6318945" y="2175793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arch</a:t>
            </a:r>
            <a:endParaRPr b="0" i="0" sz="550" u="none" cap="none" strike="noStrike"/>
          </a:p>
        </p:txBody>
      </p:sp>
      <p:sp>
        <p:nvSpPr>
          <p:cNvPr id="266" name="Google Shape;266;p18"/>
          <p:cNvSpPr/>
          <p:nvPr/>
        </p:nvSpPr>
        <p:spPr>
          <a:xfrm>
            <a:off x="4589785" y="2282800"/>
            <a:ext cx="4177903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Архитектура / System Design</a:t>
            </a:r>
            <a:endParaRPr b="0" i="0" sz="450" u="none" cap="none" strike="noStrike"/>
          </a:p>
        </p:txBody>
      </p:sp>
      <p:sp>
        <p:nvSpPr>
          <p:cNvPr id="267" name="Google Shape;267;p18"/>
          <p:cNvSpPr/>
          <p:nvPr/>
        </p:nvSpPr>
        <p:spPr>
          <a:xfrm>
            <a:off x="1107430" y="2442121"/>
            <a:ext cx="2715518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20</a:t>
            </a:r>
            <a:endParaRPr b="0" i="0" sz="1550" u="none" cap="none" strike="noStrike"/>
          </a:p>
        </p:txBody>
      </p:sp>
      <p:sp>
        <p:nvSpPr>
          <p:cNvPr id="268" name="Google Shape;268;p18"/>
          <p:cNvSpPr/>
          <p:nvPr/>
        </p:nvSpPr>
        <p:spPr>
          <a:xfrm>
            <a:off x="2105471" y="2695798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cs</a:t>
            </a:r>
            <a:endParaRPr b="0" i="0" sz="550" u="none" cap="none" strike="noStrike"/>
          </a:p>
        </p:txBody>
      </p:sp>
      <p:sp>
        <p:nvSpPr>
          <p:cNvPr id="269" name="Google Shape;269;p18"/>
          <p:cNvSpPr/>
          <p:nvPr/>
        </p:nvSpPr>
        <p:spPr>
          <a:xfrm>
            <a:off x="376312" y="2802806"/>
            <a:ext cx="4177829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 Fundamentals</a:t>
            </a:r>
            <a:endParaRPr b="0" i="0" sz="450" u="none" cap="none" strike="noStrike"/>
          </a:p>
        </p:txBody>
      </p:sp>
      <p:sp>
        <p:nvSpPr>
          <p:cNvPr id="270" name="Google Shape;270;p18"/>
          <p:cNvSpPr/>
          <p:nvPr/>
        </p:nvSpPr>
        <p:spPr>
          <a:xfrm>
            <a:off x="5320903" y="2442121"/>
            <a:ext cx="2715592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20</a:t>
            </a:r>
            <a:endParaRPr b="0" i="0" sz="1550" u="none" cap="none" strike="noStrike"/>
          </a:p>
        </p:txBody>
      </p:sp>
      <p:sp>
        <p:nvSpPr>
          <p:cNvPr id="271" name="Google Shape;271;p18"/>
          <p:cNvSpPr/>
          <p:nvPr/>
        </p:nvSpPr>
        <p:spPr>
          <a:xfrm>
            <a:off x="6318945" y="2695798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process</a:t>
            </a:r>
            <a:endParaRPr b="0" i="0" sz="550" u="none" cap="none" strike="noStrike"/>
          </a:p>
        </p:txBody>
      </p:sp>
      <p:sp>
        <p:nvSpPr>
          <p:cNvPr id="272" name="Google Shape;272;p18"/>
          <p:cNvSpPr/>
          <p:nvPr/>
        </p:nvSpPr>
        <p:spPr>
          <a:xfrm>
            <a:off x="4589785" y="2802806"/>
            <a:ext cx="4177903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Interview Process</a:t>
            </a:r>
            <a:endParaRPr b="0" i="0" sz="450" u="none" cap="none" strike="noStrike"/>
          </a:p>
        </p:txBody>
      </p:sp>
      <p:sp>
        <p:nvSpPr>
          <p:cNvPr id="273" name="Google Shape;273;p18"/>
          <p:cNvSpPr/>
          <p:nvPr/>
        </p:nvSpPr>
        <p:spPr>
          <a:xfrm>
            <a:off x="1386780" y="3304059"/>
            <a:ext cx="752177" cy="152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Lora"/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100%</a:t>
            </a:r>
            <a:endParaRPr b="0" i="0" sz="1200" u="none" cap="none" strike="noStrike"/>
          </a:p>
        </p:txBody>
      </p:sp>
      <p:pic>
        <p:nvPicPr>
          <p:cNvPr descr="preencoded.png" id="274" name="Google Shape;2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04255" y="2921868"/>
            <a:ext cx="917377" cy="91737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8"/>
          <p:cNvSpPr/>
          <p:nvPr/>
        </p:nvSpPr>
        <p:spPr>
          <a:xfrm>
            <a:off x="376312" y="3883000"/>
            <a:ext cx="2773338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Тесты проходят успешно</a:t>
            </a:r>
            <a:endParaRPr b="0" i="0" sz="450" u="none" cap="none" strike="noStrike"/>
          </a:p>
        </p:txBody>
      </p:sp>
      <p:sp>
        <p:nvSpPr>
          <p:cNvPr id="276" name="Google Shape;276;p18"/>
          <p:cNvSpPr/>
          <p:nvPr/>
        </p:nvSpPr>
        <p:spPr>
          <a:xfrm>
            <a:off x="4195763" y="3304059"/>
            <a:ext cx="752177" cy="152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Lora"/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98%</a:t>
            </a:r>
            <a:endParaRPr b="0" i="0" sz="1200" u="none" cap="none" strike="noStrike"/>
          </a:p>
        </p:txBody>
      </p:sp>
      <p:pic>
        <p:nvPicPr>
          <p:cNvPr descr="preencoded.png" id="277" name="Google Shape;27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13237" y="2921868"/>
            <a:ext cx="917377" cy="91737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8"/>
          <p:cNvSpPr/>
          <p:nvPr/>
        </p:nvSpPr>
        <p:spPr>
          <a:xfrm>
            <a:off x="3185294" y="3883000"/>
            <a:ext cx="2773338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Покрытие ключевых модулей</a:t>
            </a:r>
            <a:endParaRPr b="0" i="0" sz="450" u="none" cap="none" strike="noStrike"/>
          </a:p>
        </p:txBody>
      </p:sp>
      <p:sp>
        <p:nvSpPr>
          <p:cNvPr id="279" name="Google Shape;279;p18"/>
          <p:cNvSpPr/>
          <p:nvPr/>
        </p:nvSpPr>
        <p:spPr>
          <a:xfrm>
            <a:off x="7004745" y="3304059"/>
            <a:ext cx="752177" cy="152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Lora"/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0%</a:t>
            </a:r>
            <a:endParaRPr b="0" i="0" sz="1200" u="none" cap="none" strike="noStrike"/>
          </a:p>
        </p:txBody>
      </p:sp>
      <p:pic>
        <p:nvPicPr>
          <p:cNvPr descr="preencoded.png" id="280" name="Google Shape;28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22219" y="2921868"/>
            <a:ext cx="917377" cy="91737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8"/>
          <p:cNvSpPr/>
          <p:nvPr/>
        </p:nvSpPr>
        <p:spPr>
          <a:xfrm>
            <a:off x="5994276" y="3883000"/>
            <a:ext cx="2773338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Дубли ID в реестре</a:t>
            </a:r>
            <a:endParaRPr b="0" i="0" sz="450" u="none" cap="none" strike="noStrike"/>
          </a:p>
        </p:txBody>
      </p:sp>
      <p:sp>
        <p:nvSpPr>
          <p:cNvPr id="282" name="Google Shape;282;p18"/>
          <p:cNvSpPr/>
          <p:nvPr/>
        </p:nvSpPr>
        <p:spPr>
          <a:xfrm>
            <a:off x="376312" y="3986808"/>
            <a:ext cx="4181401" cy="300930"/>
          </a:xfrm>
          <a:prstGeom prst="roundRect">
            <a:avLst>
              <a:gd fmla="val 3049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437406" y="4047902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approved: 50</a:t>
            </a:r>
            <a:endParaRPr b="0" i="0" sz="550" u="none" cap="none" strike="noStrike"/>
          </a:p>
        </p:txBody>
      </p:sp>
      <p:sp>
        <p:nvSpPr>
          <p:cNvPr id="284" name="Google Shape;284;p18"/>
          <p:cNvSpPr/>
          <p:nvPr/>
        </p:nvSpPr>
        <p:spPr>
          <a:xfrm>
            <a:off x="437406" y="4154909"/>
            <a:ext cx="4059213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Полностью подтверждённых единиц</a:t>
            </a:r>
            <a:endParaRPr b="0" i="0" sz="450" u="none" cap="none" strike="noStrike"/>
          </a:p>
        </p:txBody>
      </p:sp>
      <p:sp>
        <p:nvSpPr>
          <p:cNvPr id="285" name="Google Shape;285;p18"/>
          <p:cNvSpPr/>
          <p:nvPr/>
        </p:nvSpPr>
        <p:spPr>
          <a:xfrm>
            <a:off x="4586213" y="3986808"/>
            <a:ext cx="4181475" cy="300930"/>
          </a:xfrm>
          <a:prstGeom prst="roundRect">
            <a:avLst>
              <a:gd fmla="val 3049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4647307" y="4047902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review: 5</a:t>
            </a:r>
            <a:endParaRPr b="0" i="0" sz="550" u="none" cap="none" strike="noStrike"/>
          </a:p>
        </p:txBody>
      </p:sp>
      <p:sp>
        <p:nvSpPr>
          <p:cNvPr id="287" name="Google Shape;287;p18"/>
          <p:cNvSpPr/>
          <p:nvPr/>
        </p:nvSpPr>
        <p:spPr>
          <a:xfrm>
            <a:off x="4647307" y="4154909"/>
            <a:ext cx="4059287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На проверке — зона роста контента</a:t>
            </a:r>
            <a:endParaRPr b="0" i="0" sz="450" u="none" cap="none" strike="noStrike"/>
          </a:p>
        </p:txBody>
      </p:sp>
      <p:sp>
        <p:nvSpPr>
          <p:cNvPr id="288" name="Google Shape;288;p18"/>
          <p:cNvSpPr/>
          <p:nvPr/>
        </p:nvSpPr>
        <p:spPr>
          <a:xfrm>
            <a:off x="376312" y="4316239"/>
            <a:ext cx="4181401" cy="300930"/>
          </a:xfrm>
          <a:prstGeom prst="roundRect">
            <a:avLst>
              <a:gd fmla="val 3049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437406" y="4377333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draft: 5</a:t>
            </a:r>
            <a:endParaRPr b="0" i="0" sz="550" u="none" cap="none" strike="noStrike"/>
          </a:p>
        </p:txBody>
      </p:sp>
      <p:sp>
        <p:nvSpPr>
          <p:cNvPr id="290" name="Google Shape;290;p18"/>
          <p:cNvSpPr/>
          <p:nvPr/>
        </p:nvSpPr>
        <p:spPr>
          <a:xfrm>
            <a:off x="437406" y="4484340"/>
            <a:ext cx="4059213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В черновике</a:t>
            </a:r>
            <a:endParaRPr b="0" i="0" sz="450" u="none" cap="none" strike="noStrike"/>
          </a:p>
        </p:txBody>
      </p:sp>
      <p:sp>
        <p:nvSpPr>
          <p:cNvPr id="291" name="Google Shape;291;p18"/>
          <p:cNvSpPr/>
          <p:nvPr/>
        </p:nvSpPr>
        <p:spPr>
          <a:xfrm>
            <a:off x="4586213" y="4316239"/>
            <a:ext cx="4181475" cy="300930"/>
          </a:xfrm>
          <a:prstGeom prst="roundRect">
            <a:avLst>
              <a:gd fmla="val 3049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8"/>
          <p:cNvSpPr/>
          <p:nvPr/>
        </p:nvSpPr>
        <p:spPr>
          <a:xfrm>
            <a:off x="4647307" y="4377333"/>
            <a:ext cx="719510" cy="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Lora"/>
              <a:buNone/>
            </a:pPr>
            <a:r>
              <a:rPr b="0" i="0" lang="en-US" sz="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Дубли ID: 0</a:t>
            </a:r>
            <a:endParaRPr b="0" i="0" sz="550" u="none" cap="none" strike="noStrike"/>
          </a:p>
        </p:txBody>
      </p:sp>
      <p:sp>
        <p:nvSpPr>
          <p:cNvPr id="293" name="Google Shape;293;p18"/>
          <p:cNvSpPr/>
          <p:nvPr/>
        </p:nvSpPr>
        <p:spPr>
          <a:xfrm>
            <a:off x="4647307" y="4484340"/>
            <a:ext cx="4059287" cy="7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Нет конфликтов в реестре</a:t>
            </a:r>
            <a:endParaRPr b="0" i="0" sz="450" u="none" cap="none" strike="noStrike"/>
          </a:p>
        </p:txBody>
      </p:sp>
      <p:sp>
        <p:nvSpPr>
          <p:cNvPr id="294" name="Google Shape;294;p18"/>
          <p:cNvSpPr/>
          <p:nvPr/>
        </p:nvSpPr>
        <p:spPr>
          <a:xfrm>
            <a:off x="376312" y="4649242"/>
            <a:ext cx="8391376" cy="179710"/>
          </a:xfrm>
          <a:prstGeom prst="roundRect">
            <a:avLst>
              <a:gd fmla="val 5105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7406" y="4725591"/>
            <a:ext cx="76423" cy="6109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8"/>
          <p:cNvSpPr/>
          <p:nvPr/>
        </p:nvSpPr>
        <p:spPr>
          <a:xfrm>
            <a:off x="574923" y="4692997"/>
            <a:ext cx="8569077" cy="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Source Sans 3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⚠️</a:t>
            </a:r>
            <a:r>
              <a:rPr b="0" i="0" lang="en-US" sz="4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Часть файлов пока без полного YAML frontmatter — это запланированная зона развития контентной базы.</a:t>
            </a:r>
            <a:endParaRPr b="0" i="0" sz="450" u="none" cap="none" strike="noStrike"/>
          </a:p>
        </p:txBody>
      </p:sp>
      <p:sp>
        <p:nvSpPr>
          <p:cNvPr id="297" name="Google Shape;297;p18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523577" y="1475110"/>
            <a:ext cx="1755800" cy="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550"/>
              <a:buFont typeface="Source Sans 3"/>
              <a:buNone/>
            </a:pPr>
            <a:r>
              <a:rPr b="0" i="0" lang="en-US" sz="550" u="none" cap="none" strike="noStrike">
                <a:solidFill>
                  <a:srgbClr val="B4C6CA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ПОЛЬЗОВАТЕЛЬСКИЕ СЦЕНАРИИ · DEVEX</a:t>
            </a:r>
            <a:endParaRPr b="0" i="0" sz="550" u="none" cap="none" strike="noStrike"/>
          </a:p>
        </p:txBody>
      </p:sp>
      <p:sp>
        <p:nvSpPr>
          <p:cNvPr id="304" name="Google Shape;304;p19"/>
          <p:cNvSpPr/>
          <p:nvPr/>
        </p:nvSpPr>
        <p:spPr>
          <a:xfrm>
            <a:off x="523577" y="1627808"/>
            <a:ext cx="2613347" cy="269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Проект в действии</a:t>
            </a:r>
            <a:endParaRPr b="0" i="0" sz="1650" u="none" cap="none" strike="noStrike"/>
          </a:p>
        </p:txBody>
      </p:sp>
      <p:sp>
        <p:nvSpPr>
          <p:cNvPr id="305" name="Google Shape;305;p19"/>
          <p:cNvSpPr/>
          <p:nvPr/>
        </p:nvSpPr>
        <p:spPr>
          <a:xfrm>
            <a:off x="523577" y="1993553"/>
            <a:ext cx="2656136" cy="921767"/>
          </a:xfrm>
          <a:prstGeom prst="roundRect">
            <a:avLst>
              <a:gd fmla="val 4960" name="adj"/>
            </a:avLst>
          </a:prstGeom>
          <a:solidFill>
            <a:srgbClr val="252833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52" y="1993553"/>
            <a:ext cx="38100" cy="92176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9"/>
          <p:cNvSpPr/>
          <p:nvPr/>
        </p:nvSpPr>
        <p:spPr>
          <a:xfrm>
            <a:off x="653281" y="2094681"/>
            <a:ext cx="1720602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00"/>
              <a:buFont typeface="Lora"/>
              <a:buNone/>
            </a:pPr>
            <a:r>
              <a:rPr b="0" i="0" lang="en-US" sz="8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Добавить новую единицу знаний</a:t>
            </a:r>
            <a:endParaRPr b="0" i="0" sz="800" u="none" cap="none" strike="noStrike"/>
          </a:p>
        </p:txBody>
      </p:sp>
      <p:sp>
        <p:nvSpPr>
          <p:cNvPr id="308" name="Google Shape;308;p19"/>
          <p:cNvSpPr/>
          <p:nvPr/>
        </p:nvSpPr>
        <p:spPr>
          <a:xfrm>
            <a:off x="653281" y="2267917"/>
            <a:ext cx="2425303" cy="416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7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→ заполнение шаблона → </a:t>
            </a:r>
            <a:r>
              <a:rPr b="0" i="0" lang="en-US" sz="7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validate</a:t>
            </a:r>
            <a:r>
              <a:rPr b="0" i="0" lang="en-US" sz="7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→ </a:t>
            </a:r>
            <a:r>
              <a:rPr b="0" i="0" lang="en-US" sz="7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registry</a:t>
            </a:r>
            <a:endParaRPr b="0" i="0" sz="700" u="none" cap="none" strike="noStrike"/>
          </a:p>
          <a:p>
            <a:pPr indent="0" lvl="0" marL="0" marR="0" rtl="0" algn="l">
              <a:lnSpc>
                <a:spcPct val="113000"/>
              </a:lnSpc>
              <a:spcBef>
                <a:spcPts val="300"/>
              </a:spcBef>
              <a:spcAft>
                <a:spcPts val="0"/>
              </a:spcAft>
              <a:buClr>
                <a:srgbClr val="D6E5EF"/>
              </a:buClr>
              <a:buSzPts val="700"/>
              <a:buFont typeface="Source Sans 3"/>
              <a:buNone/>
            </a:pPr>
            <a:r>
              <a:rPr b="0" i="0" lang="en-US" sz="7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Автоматический ID, корректный frontmatter, quality gate перед добавлением в базу.</a:t>
            </a:r>
            <a:endParaRPr b="0" i="0" sz="700" u="none" cap="none" strike="noStrike"/>
          </a:p>
        </p:txBody>
      </p:sp>
      <p:sp>
        <p:nvSpPr>
          <p:cNvPr id="309" name="Google Shape;309;p19"/>
          <p:cNvSpPr/>
          <p:nvPr/>
        </p:nvSpPr>
        <p:spPr>
          <a:xfrm>
            <a:off x="3243858" y="1993553"/>
            <a:ext cx="2656210" cy="921767"/>
          </a:xfrm>
          <a:prstGeom prst="roundRect">
            <a:avLst>
              <a:gd fmla="val 4960" name="adj"/>
            </a:avLst>
          </a:prstGeom>
          <a:solidFill>
            <a:srgbClr val="252833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4333" y="1993553"/>
            <a:ext cx="38100" cy="92176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9"/>
          <p:cNvSpPr/>
          <p:nvPr/>
        </p:nvSpPr>
        <p:spPr>
          <a:xfrm>
            <a:off x="3373562" y="2094681"/>
            <a:ext cx="16125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00"/>
              <a:buFont typeface="Lora"/>
              <a:buNone/>
            </a:pPr>
            <a:r>
              <a:rPr b="0" i="0" lang="en-US" sz="8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Найти материал под интервью</a:t>
            </a:r>
            <a:endParaRPr b="0" i="0" sz="800" u="none" cap="none" strike="noStrike"/>
          </a:p>
        </p:txBody>
      </p:sp>
      <p:sp>
        <p:nvSpPr>
          <p:cNvPr id="312" name="Google Shape;312;p19"/>
          <p:cNvSpPr/>
          <p:nvPr/>
        </p:nvSpPr>
        <p:spPr>
          <a:xfrm>
            <a:off x="3373562" y="2267917"/>
            <a:ext cx="2425378" cy="546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 --domain arch --category sysdesign --difficulty middle --verbose</a:t>
            </a:r>
            <a:endParaRPr b="0" i="0" sz="700" u="none" cap="none" strike="noStrike"/>
          </a:p>
          <a:p>
            <a:pPr indent="0" lvl="0" marL="0" marR="0" rtl="0" algn="l">
              <a:lnSpc>
                <a:spcPct val="113000"/>
              </a:lnSpc>
              <a:spcBef>
                <a:spcPts val="300"/>
              </a:spcBef>
              <a:spcAft>
                <a:spcPts val="0"/>
              </a:spcAft>
              <a:buClr>
                <a:srgbClr val="D6E5EF"/>
              </a:buClr>
              <a:buSzPts val="700"/>
              <a:buFont typeface="Source Sans 3"/>
              <a:buNone/>
            </a:pPr>
            <a:r>
              <a:rPr b="0" i="0" lang="en-US" sz="7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Scoring, фильтры и объяснимый результат для быстрого поиска нужного материала.</a:t>
            </a:r>
            <a:endParaRPr b="0" i="0" sz="700" u="none" cap="none" strike="noStrike"/>
          </a:p>
        </p:txBody>
      </p:sp>
      <p:sp>
        <p:nvSpPr>
          <p:cNvPr id="313" name="Google Shape;313;p19"/>
          <p:cNvSpPr/>
          <p:nvPr/>
        </p:nvSpPr>
        <p:spPr>
          <a:xfrm>
            <a:off x="5964213" y="1993553"/>
            <a:ext cx="2656210" cy="921767"/>
          </a:xfrm>
          <a:prstGeom prst="roundRect">
            <a:avLst>
              <a:gd fmla="val 4960" name="adj"/>
            </a:avLst>
          </a:prstGeom>
          <a:solidFill>
            <a:srgbClr val="252833"/>
          </a:solidFill>
          <a:ln cap="flat" cmpd="sng" w="952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4688" y="1993553"/>
            <a:ext cx="38100" cy="92176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/>
          <p:nvPr/>
        </p:nvSpPr>
        <p:spPr>
          <a:xfrm>
            <a:off x="6093916" y="2094681"/>
            <a:ext cx="1853580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00"/>
              <a:buFont typeface="Lora"/>
              <a:buNone/>
            </a:pPr>
            <a:r>
              <a:rPr b="0" i="0" lang="en-US" sz="8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Проверить «здоровье» базы знаний</a:t>
            </a:r>
            <a:endParaRPr b="0" i="0" sz="800" u="none" cap="none" strike="noStrike"/>
          </a:p>
        </p:txBody>
      </p:sp>
      <p:sp>
        <p:nvSpPr>
          <p:cNvPr id="316" name="Google Shape;316;p19"/>
          <p:cNvSpPr/>
          <p:nvPr/>
        </p:nvSpPr>
        <p:spPr>
          <a:xfrm>
            <a:off x="6093916" y="2267917"/>
            <a:ext cx="2425378" cy="416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stats</a:t>
            </a:r>
            <a:r>
              <a:rPr b="0" i="0" lang="en-US" sz="7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</a:t>
            </a:r>
            <a:r>
              <a:rPr b="0" i="0" lang="en-US" sz="7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validate</a:t>
            </a:r>
            <a:endParaRPr b="0" i="0" sz="700" u="none" cap="none" strike="noStrike"/>
          </a:p>
          <a:p>
            <a:pPr indent="0" lvl="0" marL="0" marR="0" rtl="0" algn="l">
              <a:lnSpc>
                <a:spcPct val="113000"/>
              </a:lnSpc>
              <a:spcBef>
                <a:spcPts val="300"/>
              </a:spcBef>
              <a:spcAft>
                <a:spcPts val="0"/>
              </a:spcAft>
              <a:buClr>
                <a:srgbClr val="D6E5EF"/>
              </a:buClr>
              <a:buSzPts val="700"/>
              <a:buFont typeface="Source Sans 3"/>
              <a:buNone/>
            </a:pPr>
            <a:r>
              <a:rPr b="0" i="0" lang="en-US" sz="7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Мгновенный обзор 61 единицы: распределение по доменам, статусам, ошибки и предупреждения.</a:t>
            </a:r>
            <a:endParaRPr b="0" i="0" sz="700" u="none" cap="none" strike="noStrike"/>
          </a:p>
        </p:txBody>
      </p:sp>
      <p:sp>
        <p:nvSpPr>
          <p:cNvPr id="317" name="Google Shape;317;p19"/>
          <p:cNvSpPr/>
          <p:nvPr/>
        </p:nvSpPr>
        <p:spPr>
          <a:xfrm>
            <a:off x="523577" y="3010272"/>
            <a:ext cx="8096845" cy="6846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523577" y="3184178"/>
            <a:ext cx="3936653" cy="439564"/>
          </a:xfrm>
          <a:prstGeom prst="roundRect">
            <a:avLst>
              <a:gd fmla="val 3127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181" y="3308896"/>
            <a:ext cx="114523" cy="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9"/>
          <p:cNvSpPr/>
          <p:nvPr/>
        </p:nvSpPr>
        <p:spPr>
          <a:xfrm>
            <a:off x="821308" y="3271168"/>
            <a:ext cx="3547318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ource Sans 3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Быстрый старт:</a:t>
            </a:r>
            <a:r>
              <a:rPr b="0" i="0" lang="en-US" sz="7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любому участнику команды достаточно одной команды, чтобы выполнить нужный сценарий.</a:t>
            </a:r>
            <a:endParaRPr b="0" i="0" sz="700" u="none" cap="none" strike="noStrike"/>
          </a:p>
        </p:txBody>
      </p:sp>
      <p:sp>
        <p:nvSpPr>
          <p:cNvPr id="321" name="Google Shape;321;p19"/>
          <p:cNvSpPr/>
          <p:nvPr/>
        </p:nvSpPr>
        <p:spPr>
          <a:xfrm>
            <a:off x="4688532" y="3184178"/>
            <a:ext cx="3936653" cy="439564"/>
          </a:xfrm>
          <a:prstGeom prst="roundRect">
            <a:avLst>
              <a:gd fmla="val 3127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0136" y="3308896"/>
            <a:ext cx="114523" cy="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9"/>
          <p:cNvSpPr/>
          <p:nvPr/>
        </p:nvSpPr>
        <p:spPr>
          <a:xfrm>
            <a:off x="4986263" y="3271168"/>
            <a:ext cx="3547318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ource Sans 3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Стабильность процесса:</a:t>
            </a:r>
            <a:r>
              <a:rPr b="0" i="0" lang="en-US" sz="7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CLI-интерфейс делает операции повторяемыми, понятными и стандартизированными.</a:t>
            </a:r>
            <a:endParaRPr b="0" i="0" sz="700" u="none" cap="none" strike="noStrike"/>
          </a:p>
        </p:txBody>
      </p:sp>
      <p:sp>
        <p:nvSpPr>
          <p:cNvPr id="324" name="Google Shape;324;p19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/>
          <p:nvPr/>
        </p:nvSpPr>
        <p:spPr>
          <a:xfrm>
            <a:off x="523577" y="398562"/>
            <a:ext cx="636538" cy="168771"/>
          </a:xfrm>
          <a:prstGeom prst="roundRect">
            <a:avLst>
              <a:gd fmla="val 6981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439" y="443657"/>
            <a:ext cx="78507" cy="7850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0"/>
          <p:cNvSpPr/>
          <p:nvPr/>
        </p:nvSpPr>
        <p:spPr>
          <a:xfrm>
            <a:off x="700162" y="427955"/>
            <a:ext cx="858292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ИНЖЕНЕР 1</a:t>
            </a:r>
            <a:endParaRPr b="0" i="0" sz="600" u="none" cap="none" strike="noStrike"/>
          </a:p>
        </p:txBody>
      </p:sp>
      <p:sp>
        <p:nvSpPr>
          <p:cNvPr id="333" name="Google Shape;333;p20"/>
          <p:cNvSpPr/>
          <p:nvPr/>
        </p:nvSpPr>
        <p:spPr>
          <a:xfrm>
            <a:off x="1209154" y="393799"/>
            <a:ext cx="691976" cy="178296"/>
          </a:xfrm>
          <a:prstGeom prst="roundRect">
            <a:avLst>
              <a:gd fmla="val 6608" name="adj"/>
            </a:avLst>
          </a:prstGeom>
          <a:noFill/>
          <a:ln cap="flat" cmpd="sng" w="9525">
            <a:solidFill>
              <a:srgbClr val="F98A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1272778" y="427955"/>
            <a:ext cx="1021928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ЛИЧНЫЙ ВКЛАД</a:t>
            </a:r>
            <a:endParaRPr b="0" i="0" sz="600" u="none" cap="none" strike="noStrike"/>
          </a:p>
        </p:txBody>
      </p:sp>
      <p:sp>
        <p:nvSpPr>
          <p:cNvPr id="335" name="Google Shape;335;p20"/>
          <p:cNvSpPr/>
          <p:nvPr/>
        </p:nvSpPr>
        <p:spPr>
          <a:xfrm>
            <a:off x="523577" y="679400"/>
            <a:ext cx="8096845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452884" y="793998"/>
            <a:ext cx="3069654" cy="3379961"/>
          </a:xfrm>
          <a:prstGeom prst="roundRect">
            <a:avLst>
              <a:gd fmla="val 480" name="adj"/>
            </a:avLst>
          </a:prstGeom>
          <a:solidFill>
            <a:srgbClr val="314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1134814" y="867594"/>
            <a:ext cx="1477119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Зона ответственности</a:t>
            </a:r>
            <a:endParaRPr b="0" i="0" sz="900" u="none" cap="none" strike="noStrike"/>
          </a:p>
        </p:txBody>
      </p:sp>
      <p:sp>
        <p:nvSpPr>
          <p:cNvPr id="338" name="Google Shape;338;p20"/>
          <p:cNvSpPr/>
          <p:nvPr/>
        </p:nvSpPr>
        <p:spPr>
          <a:xfrm>
            <a:off x="322436" y="1085552"/>
            <a:ext cx="3101950" cy="3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2500"/>
              <a:buFont typeface="Lora"/>
              <a:buNone/>
            </a:pPr>
            <a:r>
              <a:rPr b="0" i="0" lang="en-US" sz="2500" u="none" cap="none" strike="noStrike">
                <a:solidFill>
                  <a:srgbClr val="B4C6CA"/>
                </a:solidFill>
                <a:latin typeface="Lora"/>
                <a:ea typeface="Lora"/>
                <a:cs typeface="Lora"/>
                <a:sym typeface="Lora"/>
              </a:rPr>
              <a:t>search.py</a:t>
            </a:r>
            <a:endParaRPr b="0" i="0" sz="2500" u="none" cap="none" strike="noStrike"/>
          </a:p>
        </p:txBody>
      </p:sp>
      <p:sp>
        <p:nvSpPr>
          <p:cNvPr id="339" name="Google Shape;339;p20"/>
          <p:cNvSpPr/>
          <p:nvPr/>
        </p:nvSpPr>
        <p:spPr>
          <a:xfrm>
            <a:off x="322436" y="1557635"/>
            <a:ext cx="3101950" cy="3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2500"/>
              <a:buFont typeface="Lora"/>
              <a:buNone/>
            </a:pPr>
            <a:r>
              <a:rPr b="0" i="0" lang="en-US" sz="2500" u="none" cap="none" strike="noStrike">
                <a:solidFill>
                  <a:srgbClr val="B4C6CA"/>
                </a:solidFill>
                <a:latin typeface="Lora"/>
                <a:ea typeface="Lora"/>
                <a:cs typeface="Lora"/>
                <a:sym typeface="Lora"/>
              </a:rPr>
              <a:t>registry.py</a:t>
            </a:r>
            <a:endParaRPr b="0" i="0" sz="2500" u="none" cap="none" strike="noStrike"/>
          </a:p>
        </p:txBody>
      </p:sp>
      <p:sp>
        <p:nvSpPr>
          <p:cNvPr id="340" name="Google Shape;340;p20"/>
          <p:cNvSpPr/>
          <p:nvPr/>
        </p:nvSpPr>
        <p:spPr>
          <a:xfrm>
            <a:off x="551036" y="2063428"/>
            <a:ext cx="2873350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551036" y="2178025"/>
            <a:ext cx="2873350" cy="919758"/>
          </a:xfrm>
          <a:prstGeom prst="roundRect">
            <a:avLst>
              <a:gd fmla="val 16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188" y="2276177"/>
            <a:ext cx="294531" cy="294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151" y="2357140"/>
            <a:ext cx="132531" cy="13253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0"/>
          <p:cNvSpPr/>
          <p:nvPr/>
        </p:nvSpPr>
        <p:spPr>
          <a:xfrm>
            <a:off x="649188" y="2644304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Поиск</a:t>
            </a:r>
            <a:endParaRPr b="0" i="0" sz="900" u="none" cap="none" strike="noStrike"/>
          </a:p>
        </p:txBody>
      </p:sp>
      <p:sp>
        <p:nvSpPr>
          <p:cNvPr id="345" name="Google Shape;345;p20"/>
          <p:cNvSpPr/>
          <p:nvPr/>
        </p:nvSpPr>
        <p:spPr>
          <a:xfrm>
            <a:off x="649188" y="2862263"/>
            <a:ext cx="2677046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Быстрый доступ к материалам по базе знаний</a:t>
            </a:r>
            <a:endParaRPr b="0" i="0" sz="750" u="none" cap="none" strike="noStrike"/>
          </a:p>
        </p:txBody>
      </p:sp>
      <p:sp>
        <p:nvSpPr>
          <p:cNvPr id="346" name="Google Shape;346;p20"/>
          <p:cNvSpPr/>
          <p:nvPr/>
        </p:nvSpPr>
        <p:spPr>
          <a:xfrm>
            <a:off x="551036" y="3171379"/>
            <a:ext cx="2873350" cy="919758"/>
          </a:xfrm>
          <a:prstGeom prst="roundRect">
            <a:avLst>
              <a:gd fmla="val 16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188" y="3269531"/>
            <a:ext cx="294531" cy="294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0151" y="3350493"/>
            <a:ext cx="132531" cy="13253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0"/>
          <p:cNvSpPr/>
          <p:nvPr/>
        </p:nvSpPr>
        <p:spPr>
          <a:xfrm>
            <a:off x="649188" y="3637657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Реестр</a:t>
            </a:r>
            <a:endParaRPr b="0" i="0" sz="900" u="none" cap="none" strike="noStrike"/>
          </a:p>
        </p:txBody>
      </p:sp>
      <p:sp>
        <p:nvSpPr>
          <p:cNvPr id="350" name="Google Shape;350;p20"/>
          <p:cNvSpPr/>
          <p:nvPr/>
        </p:nvSpPr>
        <p:spPr>
          <a:xfrm>
            <a:off x="649188" y="3855616"/>
            <a:ext cx="2677046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Управляемая система идентификаторов</a:t>
            </a:r>
            <a:endParaRPr b="0" i="0" sz="750" u="none" cap="none" strike="noStrike"/>
          </a:p>
        </p:txBody>
      </p:sp>
      <p:sp>
        <p:nvSpPr>
          <p:cNvPr id="351" name="Google Shape;351;p20"/>
          <p:cNvSpPr/>
          <p:nvPr/>
        </p:nvSpPr>
        <p:spPr>
          <a:xfrm>
            <a:off x="3696072" y="867594"/>
            <a:ext cx="2112243" cy="149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search.py</a:t>
            </a: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 — гибкая навигация</a:t>
            </a:r>
            <a:endParaRPr b="0" i="0" sz="900" u="none" cap="none" strike="noStrike"/>
          </a:p>
        </p:txBody>
      </p:sp>
      <p:pic>
        <p:nvPicPr>
          <p:cNvPr descr="preencoded.png" id="352" name="Google Shape;35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32833" y="1104379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0"/>
          <p:cNvSpPr/>
          <p:nvPr/>
        </p:nvSpPr>
        <p:spPr>
          <a:xfrm>
            <a:off x="4015085" y="1099542"/>
            <a:ext cx="1262658" cy="734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Реализован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SearchQuery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с фильтрами: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domain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category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difficulty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role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tags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frequency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interview_stage</a:t>
            </a:r>
            <a:endParaRPr b="0" i="0" sz="750" u="none" cap="none" strike="noStrike"/>
          </a:p>
        </p:txBody>
      </p:sp>
      <p:pic>
        <p:nvPicPr>
          <p:cNvPr descr="preencoded.png" id="354" name="Google Shape;35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06479" y="1104379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0"/>
          <p:cNvSpPr/>
          <p:nvPr/>
        </p:nvSpPr>
        <p:spPr>
          <a:xfrm>
            <a:off x="5688732" y="1099542"/>
            <a:ext cx="1262658" cy="68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Система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scoring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 точные совпадения дают высокий вес, строгие фильтры исключают нерелевантные результаты</a:t>
            </a:r>
            <a:endParaRPr b="0" i="0" sz="750" u="none" cap="none" strike="noStrike"/>
          </a:p>
        </p:txBody>
      </p:sp>
      <p:pic>
        <p:nvPicPr>
          <p:cNvPr descr="preencoded.png" id="356" name="Google Shape;35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80126" y="1104379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0"/>
          <p:cNvSpPr/>
          <p:nvPr/>
        </p:nvSpPr>
        <p:spPr>
          <a:xfrm>
            <a:off x="7362379" y="1099542"/>
            <a:ext cx="1262732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Результаты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сортируются по убыванию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релевантности</a:t>
            </a:r>
            <a:endParaRPr b="0" i="0" sz="750" u="none" cap="none" strike="noStrike"/>
          </a:p>
        </p:txBody>
      </p:sp>
      <p:pic>
        <p:nvPicPr>
          <p:cNvPr descr="preencoded.png" id="358" name="Google Shape;35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32833" y="1986111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0"/>
          <p:cNvSpPr/>
          <p:nvPr/>
        </p:nvSpPr>
        <p:spPr>
          <a:xfrm>
            <a:off x="4015085" y="1981274"/>
            <a:ext cx="2099518" cy="293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Обёртки: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search_by_domain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search_by_tag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search_by_role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search_by_text</a:t>
            </a:r>
            <a:endParaRPr b="0" i="0" sz="750" u="none" cap="none" strike="noStrike"/>
          </a:p>
        </p:txBody>
      </p:sp>
      <p:pic>
        <p:nvPicPr>
          <p:cNvPr descr="preencoded.png" id="360" name="Google Shape;36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43340" y="1986111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0"/>
          <p:cNvSpPr/>
          <p:nvPr/>
        </p:nvSpPr>
        <p:spPr>
          <a:xfrm>
            <a:off x="6525592" y="1981274"/>
            <a:ext cx="2099518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Verbose-вывод: пользователь видит score и совпавшие параметры</a:t>
            </a:r>
            <a:endParaRPr b="0" i="0" sz="750" u="none" cap="none" strike="noStrike"/>
          </a:p>
        </p:txBody>
      </p:sp>
      <p:sp>
        <p:nvSpPr>
          <p:cNvPr id="362" name="Google Shape;362;p20"/>
          <p:cNvSpPr/>
          <p:nvPr/>
        </p:nvSpPr>
        <p:spPr>
          <a:xfrm>
            <a:off x="3696072" y="2387947"/>
            <a:ext cx="4929039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3696072" y="2502545"/>
            <a:ext cx="2431926" cy="149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registry.py</a:t>
            </a: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 — консистентность базы</a:t>
            </a:r>
            <a:endParaRPr b="0" i="0" sz="900" u="none" cap="none" strike="noStrike"/>
          </a:p>
        </p:txBody>
      </p:sp>
      <p:pic>
        <p:nvPicPr>
          <p:cNvPr descr="preencoded.png" id="364" name="Google Shape;36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32833" y="2739330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0"/>
          <p:cNvSpPr/>
          <p:nvPr/>
        </p:nvSpPr>
        <p:spPr>
          <a:xfrm>
            <a:off x="4015085" y="2734494"/>
            <a:ext cx="1262658" cy="41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Построение реестра из всех единиц знаний,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проверка дублей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ID</a:t>
            </a:r>
            <a:endParaRPr b="0" i="0" sz="750" u="none" cap="none" strike="noStrike"/>
          </a:p>
        </p:txBody>
      </p:sp>
      <p:pic>
        <p:nvPicPr>
          <p:cNvPr descr="preencoded.png" id="366" name="Google Shape;36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06479" y="2739330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0"/>
          <p:cNvSpPr/>
          <p:nvPr/>
        </p:nvSpPr>
        <p:spPr>
          <a:xfrm>
            <a:off x="5688732" y="2734494"/>
            <a:ext cx="1262658" cy="54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Поиск записи по ID,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генерация следующего корректного ID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по домену и категории</a:t>
            </a:r>
            <a:endParaRPr b="0" i="0" sz="750" u="none" cap="none" strike="noStrike"/>
          </a:p>
        </p:txBody>
      </p:sp>
      <p:pic>
        <p:nvPicPr>
          <p:cNvPr descr="preencoded.png" id="368" name="Google Shape;36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80126" y="2739330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0"/>
          <p:cNvSpPr/>
          <p:nvPr/>
        </p:nvSpPr>
        <p:spPr>
          <a:xfrm>
            <a:off x="7362379" y="2734494"/>
            <a:ext cx="1262732" cy="54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Статистика по доменам, категориям и статусам;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экспорт Markdown-таблицы</a:t>
            </a:r>
            <a:endParaRPr b="0" i="0" sz="750" u="none" cap="none" strike="noStrike"/>
          </a:p>
        </p:txBody>
      </p:sp>
      <p:sp>
        <p:nvSpPr>
          <p:cNvPr id="370" name="Google Shape;370;p20"/>
          <p:cNvSpPr/>
          <p:nvPr/>
        </p:nvSpPr>
        <p:spPr>
          <a:xfrm>
            <a:off x="523577" y="4256782"/>
            <a:ext cx="8096845" cy="492844"/>
          </a:xfrm>
          <a:prstGeom prst="roundRect">
            <a:avLst>
              <a:gd fmla="val 2988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1729" y="4388718"/>
            <a:ext cx="122709" cy="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0"/>
          <p:cNvSpPr/>
          <p:nvPr/>
        </p:nvSpPr>
        <p:spPr>
          <a:xfrm>
            <a:off x="842590" y="4354860"/>
            <a:ext cx="7679680" cy="279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b="1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Эффект вклада: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search.py ускоряет навигацию и персонализирует отбор. registry.py устраняет коллизии ID и обеспечивает прозрачный аудит. Слой «доступ + учёт» стал устойчивым и масштабируемым.</a:t>
            </a:r>
            <a:endParaRPr b="0" i="0" sz="750" u="none" cap="none" strike="noStrike"/>
          </a:p>
        </p:txBody>
      </p:sp>
      <p:sp>
        <p:nvSpPr>
          <p:cNvPr id="373" name="Google Shape;373;p20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/>
          <p:nvPr/>
        </p:nvSpPr>
        <p:spPr>
          <a:xfrm>
            <a:off x="515392" y="372666"/>
            <a:ext cx="626566" cy="165348"/>
          </a:xfrm>
          <a:prstGeom prst="roundRect">
            <a:avLst>
              <a:gd fmla="val 7014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360" y="435918"/>
            <a:ext cx="77316" cy="7731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1"/>
          <p:cNvSpPr/>
          <p:nvPr/>
        </p:nvSpPr>
        <p:spPr>
          <a:xfrm>
            <a:off x="689297" y="401613"/>
            <a:ext cx="851892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ИНЖЕНЕР 2</a:t>
            </a:r>
            <a:endParaRPr b="0" i="0" sz="600" u="none" cap="none" strike="noStrike"/>
          </a:p>
        </p:txBody>
      </p:sp>
      <p:sp>
        <p:nvSpPr>
          <p:cNvPr id="382" name="Google Shape;382;p21"/>
          <p:cNvSpPr/>
          <p:nvPr/>
        </p:nvSpPr>
        <p:spPr>
          <a:xfrm>
            <a:off x="1190253" y="367903"/>
            <a:ext cx="681112" cy="174873"/>
          </a:xfrm>
          <a:prstGeom prst="roundRect">
            <a:avLst>
              <a:gd fmla="val 6632" name="adj"/>
            </a:avLst>
          </a:prstGeom>
          <a:noFill/>
          <a:ln cap="flat" cmpd="sng" w="9525">
            <a:solidFill>
              <a:srgbClr val="F98A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1252984" y="401613"/>
            <a:ext cx="1012850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ЛИЧНЫЙ ВКЛАД</a:t>
            </a:r>
            <a:endParaRPr b="0" i="0" sz="600" u="none" cap="none" strike="noStrike"/>
          </a:p>
        </p:txBody>
      </p:sp>
      <p:sp>
        <p:nvSpPr>
          <p:cNvPr id="384" name="Google Shape;384;p21"/>
          <p:cNvSpPr/>
          <p:nvPr/>
        </p:nvSpPr>
        <p:spPr>
          <a:xfrm>
            <a:off x="1919660" y="401613"/>
            <a:ext cx="1169194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ДАННЫЕ + КАЧЕСТВО</a:t>
            </a:r>
            <a:endParaRPr b="0" i="0" sz="600" u="none" cap="none" strike="noStrike"/>
          </a:p>
        </p:txBody>
      </p:sp>
      <p:sp>
        <p:nvSpPr>
          <p:cNvPr id="385" name="Google Shape;385;p21"/>
          <p:cNvSpPr/>
          <p:nvPr/>
        </p:nvSpPr>
        <p:spPr>
          <a:xfrm>
            <a:off x="515392" y="647105"/>
            <a:ext cx="8113216" cy="7218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515392" y="785440"/>
            <a:ext cx="2818879" cy="2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Парсинг и валидация</a:t>
            </a:r>
            <a:endParaRPr b="0" i="0" sz="1750" u="none" cap="none" strike="noStrike"/>
          </a:p>
        </p:txBody>
      </p:sp>
      <p:sp>
        <p:nvSpPr>
          <p:cNvPr id="387" name="Google Shape;387;p21"/>
          <p:cNvSpPr/>
          <p:nvPr/>
        </p:nvSpPr>
        <p:spPr>
          <a:xfrm>
            <a:off x="515392" y="1176710"/>
            <a:ext cx="8570416" cy="13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Слой, который превращает исходные материалы в предсказуемые, проверяемые и готовые к поиску знания.</a:t>
            </a:r>
            <a:endParaRPr b="0" i="0" sz="750" u="none" cap="none" strike="noStrike"/>
          </a:p>
        </p:txBody>
      </p:sp>
      <p:sp>
        <p:nvSpPr>
          <p:cNvPr id="388" name="Google Shape;388;p21"/>
          <p:cNvSpPr/>
          <p:nvPr/>
        </p:nvSpPr>
        <p:spPr>
          <a:xfrm>
            <a:off x="445815" y="1391320"/>
            <a:ext cx="3409950" cy="2822600"/>
          </a:xfrm>
          <a:prstGeom prst="roundRect">
            <a:avLst>
              <a:gd fmla="val 514" name="adj"/>
            </a:avLst>
          </a:prstGeom>
          <a:solidFill>
            <a:srgbClr val="2D4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1307976" y="1462608"/>
            <a:ext cx="1456953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850"/>
              <a:buFont typeface="Lora"/>
              <a:buNone/>
            </a:pPr>
            <a:r>
              <a:rPr b="0" i="0" lang="en-US" sz="8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Зона ответственности</a:t>
            </a:r>
            <a:endParaRPr b="0" i="0" sz="850" u="none" cap="none" strike="noStrike"/>
          </a:p>
        </p:txBody>
      </p:sp>
      <p:sp>
        <p:nvSpPr>
          <p:cNvPr id="390" name="Google Shape;390;p21"/>
          <p:cNvSpPr/>
          <p:nvPr/>
        </p:nvSpPr>
        <p:spPr>
          <a:xfrm>
            <a:off x="353020" y="1676028"/>
            <a:ext cx="3366864" cy="39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EF4"/>
              </a:buClr>
              <a:buSzPts val="2450"/>
              <a:buFont typeface="Lora"/>
              <a:buNone/>
            </a:pPr>
            <a:r>
              <a:rPr b="0" i="0" lang="en-US" sz="2450" u="none" cap="none" strike="noStrike">
                <a:solidFill>
                  <a:srgbClr val="E7EEF4"/>
                </a:solidFill>
                <a:latin typeface="Lora"/>
                <a:ea typeface="Lora"/>
                <a:cs typeface="Lora"/>
                <a:sym typeface="Lora"/>
              </a:rPr>
              <a:t>parser.py</a:t>
            </a:r>
            <a:endParaRPr b="0" i="0" sz="2450" u="none" cap="none" strike="noStrike"/>
          </a:p>
        </p:txBody>
      </p:sp>
      <p:sp>
        <p:nvSpPr>
          <p:cNvPr id="391" name="Google Shape;391;p21"/>
          <p:cNvSpPr/>
          <p:nvPr/>
        </p:nvSpPr>
        <p:spPr>
          <a:xfrm>
            <a:off x="353020" y="2139553"/>
            <a:ext cx="3366864" cy="39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EF4"/>
              </a:buClr>
              <a:buSzPts val="2450"/>
              <a:buFont typeface="Lora"/>
              <a:buNone/>
            </a:pPr>
            <a:r>
              <a:rPr b="0" i="0" lang="en-US" sz="2450" u="none" cap="none" strike="noStrike">
                <a:solidFill>
                  <a:srgbClr val="E7EEF4"/>
                </a:solidFill>
                <a:latin typeface="Lora"/>
                <a:ea typeface="Lora"/>
                <a:cs typeface="Lora"/>
                <a:sym typeface="Lora"/>
              </a:rPr>
              <a:t>validator.py</a:t>
            </a:r>
            <a:endParaRPr b="0" i="0" sz="2450" u="none" cap="none" strike="noStrike"/>
          </a:p>
        </p:txBody>
      </p:sp>
      <p:sp>
        <p:nvSpPr>
          <p:cNvPr id="392" name="Google Shape;392;p21"/>
          <p:cNvSpPr/>
          <p:nvPr/>
        </p:nvSpPr>
        <p:spPr>
          <a:xfrm>
            <a:off x="542404" y="2636118"/>
            <a:ext cx="3216771" cy="7218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542404" y="2747665"/>
            <a:ext cx="1572741" cy="1036588"/>
          </a:xfrm>
          <a:prstGeom prst="roundRect">
            <a:avLst>
              <a:gd fmla="val 1399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4" name="Google Shape;3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94" y="2844254"/>
            <a:ext cx="289917" cy="289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691" y="2943225"/>
            <a:ext cx="130448" cy="13044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/>
          <p:nvPr/>
        </p:nvSpPr>
        <p:spPr>
          <a:xfrm>
            <a:off x="638994" y="3205460"/>
            <a:ext cx="1137047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Lora"/>
              <a:buNone/>
            </a:pPr>
            <a:r>
              <a:rPr b="0" i="0" lang="en-US" sz="8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Парсинг</a:t>
            </a:r>
            <a:endParaRPr b="0" i="0" sz="850" u="none" cap="none" strike="noStrike"/>
          </a:p>
        </p:txBody>
      </p:sp>
      <p:sp>
        <p:nvSpPr>
          <p:cNvPr id="397" name="Google Shape;397;p21"/>
          <p:cNvSpPr/>
          <p:nvPr/>
        </p:nvSpPr>
        <p:spPr>
          <a:xfrm>
            <a:off x="638994" y="3418880"/>
            <a:ext cx="1379562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Надёжная загрузка данных, ingestion-пайплайн</a:t>
            </a:r>
            <a:endParaRPr b="0" i="0" sz="750" u="none" cap="none" strike="noStrike"/>
          </a:p>
        </p:txBody>
      </p:sp>
      <p:sp>
        <p:nvSpPr>
          <p:cNvPr id="398" name="Google Shape;398;p21"/>
          <p:cNvSpPr/>
          <p:nvPr/>
        </p:nvSpPr>
        <p:spPr>
          <a:xfrm>
            <a:off x="2186434" y="2747665"/>
            <a:ext cx="1572741" cy="1036588"/>
          </a:xfrm>
          <a:prstGeom prst="roundRect">
            <a:avLst>
              <a:gd fmla="val 1399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3023" y="2844254"/>
            <a:ext cx="289917" cy="289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0" name="Google Shape;4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62721" y="2943225"/>
            <a:ext cx="130448" cy="13044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2283023" y="3205460"/>
            <a:ext cx="1137047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Lora"/>
              <a:buNone/>
            </a:pPr>
            <a:r>
              <a:rPr b="0" i="0" lang="en-US" sz="8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Валидация</a:t>
            </a:r>
            <a:endParaRPr b="0" i="0" sz="850" u="none" cap="none" strike="noStrike"/>
          </a:p>
        </p:txBody>
      </p:sp>
      <p:sp>
        <p:nvSpPr>
          <p:cNvPr id="402" name="Google Shape;402;p21"/>
          <p:cNvSpPr/>
          <p:nvPr/>
        </p:nvSpPr>
        <p:spPr>
          <a:xfrm>
            <a:off x="2283023" y="3418880"/>
            <a:ext cx="1379562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Контроль качества, правила и quality gate</a:t>
            </a:r>
            <a:endParaRPr b="0" i="0" sz="750" u="none" cap="none" strike="noStrike"/>
          </a:p>
        </p:txBody>
      </p:sp>
      <p:pic>
        <p:nvPicPr>
          <p:cNvPr descr="preencoded.png" id="403" name="Google Shape;40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26694" y="1502866"/>
            <a:ext cx="96589" cy="96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4" name="Google Shape;40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26694" y="1621408"/>
            <a:ext cx="4606603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1"/>
          <p:cNvSpPr/>
          <p:nvPr/>
        </p:nvSpPr>
        <p:spPr>
          <a:xfrm>
            <a:off x="4026694" y="1698278"/>
            <a:ext cx="1464915" cy="146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parser.py</a:t>
            </a:r>
            <a:r>
              <a:rPr b="0" i="0" lang="en-US" sz="8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— ingestion-слой</a:t>
            </a:r>
            <a:endParaRPr b="0" i="0" sz="850" u="none" cap="none" strike="noStrike"/>
          </a:p>
        </p:txBody>
      </p:sp>
      <p:sp>
        <p:nvSpPr>
          <p:cNvPr id="406" name="Google Shape;406;p21"/>
          <p:cNvSpPr/>
          <p:nvPr/>
        </p:nvSpPr>
        <p:spPr>
          <a:xfrm>
            <a:off x="4026694" y="1916460"/>
            <a:ext cx="4606603" cy="14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Markdown с YAML frontmatter → единая модель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KnowledgeUnit</a:t>
            </a:r>
            <a:endParaRPr b="0" i="0" sz="750" u="none" cap="none" strike="noStrike"/>
          </a:p>
        </p:txBody>
      </p:sp>
      <p:pic>
        <p:nvPicPr>
          <p:cNvPr descr="preencoded.png" id="407" name="Google Shape;40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26694" y="2216200"/>
            <a:ext cx="96589" cy="96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8" name="Google Shape;40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26694" y="2344415"/>
            <a:ext cx="4606603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1"/>
          <p:cNvSpPr/>
          <p:nvPr/>
        </p:nvSpPr>
        <p:spPr>
          <a:xfrm>
            <a:off x="4026694" y="2430884"/>
            <a:ext cx="1393850" cy="146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validator.py</a:t>
            </a:r>
            <a:r>
              <a:rPr b="0" i="0" lang="en-US" sz="8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— quality gate</a:t>
            </a:r>
            <a:endParaRPr b="0" i="0" sz="850" u="none" cap="none" strike="noStrike"/>
          </a:p>
        </p:txBody>
      </p:sp>
      <p:sp>
        <p:nvSpPr>
          <p:cNvPr id="410" name="Google Shape;410;p21"/>
          <p:cNvSpPr/>
          <p:nvPr/>
        </p:nvSpPr>
        <p:spPr>
          <a:xfrm>
            <a:off x="4026694" y="2649066"/>
            <a:ext cx="4606603" cy="13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Проверка структуры, связей и полноты контента</a:t>
            </a:r>
            <a:endParaRPr b="0" i="0" sz="750" u="none" cap="none" strike="noStrike"/>
          </a:p>
        </p:txBody>
      </p:sp>
      <p:sp>
        <p:nvSpPr>
          <p:cNvPr id="411" name="Google Shape;411;p21"/>
          <p:cNvSpPr/>
          <p:nvPr/>
        </p:nvSpPr>
        <p:spPr>
          <a:xfrm>
            <a:off x="4026694" y="2940993"/>
            <a:ext cx="4606603" cy="7218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4026694" y="3052539"/>
            <a:ext cx="2267620" cy="490538"/>
          </a:xfrm>
          <a:prstGeom prst="roundRect">
            <a:avLst>
              <a:gd fmla="val 13981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12406" y="3052539"/>
            <a:ext cx="57150" cy="49053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1"/>
          <p:cNvSpPr/>
          <p:nvPr/>
        </p:nvSpPr>
        <p:spPr>
          <a:xfrm>
            <a:off x="4180433" y="3182689"/>
            <a:ext cx="2003003" cy="13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parse_file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parse_directory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parse_file_safe</a:t>
            </a:r>
            <a:endParaRPr b="0" i="0" sz="750" u="none" cap="none" strike="noStrike"/>
          </a:p>
        </p:txBody>
      </p:sp>
      <p:sp>
        <p:nvSpPr>
          <p:cNvPr id="415" name="Google Shape;415;p21"/>
          <p:cNvSpPr/>
          <p:nvPr/>
        </p:nvSpPr>
        <p:spPr>
          <a:xfrm>
            <a:off x="6365602" y="3052539"/>
            <a:ext cx="2267694" cy="490538"/>
          </a:xfrm>
          <a:prstGeom prst="roundRect">
            <a:avLst>
              <a:gd fmla="val 13981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51315" y="3052539"/>
            <a:ext cx="57150" cy="49053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/>
          <p:nvPr/>
        </p:nvSpPr>
        <p:spPr>
          <a:xfrm>
            <a:off x="6519342" y="3182689"/>
            <a:ext cx="2003078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skip_errors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для массовой загрузки без остановки пайплайна</a:t>
            </a:r>
            <a:endParaRPr b="0" i="0" sz="750" u="none" cap="none" strike="noStrike"/>
          </a:p>
        </p:txBody>
      </p:sp>
      <p:sp>
        <p:nvSpPr>
          <p:cNvPr id="418" name="Google Shape;418;p21"/>
          <p:cNvSpPr/>
          <p:nvPr/>
        </p:nvSpPr>
        <p:spPr>
          <a:xfrm>
            <a:off x="4026694" y="3614365"/>
            <a:ext cx="2267620" cy="500062"/>
          </a:xfrm>
          <a:prstGeom prst="roundRect">
            <a:avLst>
              <a:gd fmla="val 13714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9" name="Google Shape;419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12406" y="3614365"/>
            <a:ext cx="5715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1"/>
          <p:cNvSpPr/>
          <p:nvPr/>
        </p:nvSpPr>
        <p:spPr>
          <a:xfrm>
            <a:off x="4180433" y="3744516"/>
            <a:ext cx="2003003" cy="27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Валидация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related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и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prerequisites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целостность сети знаний</a:t>
            </a:r>
            <a:endParaRPr b="0" i="0" sz="750" u="none" cap="none" strike="noStrike"/>
          </a:p>
        </p:txBody>
      </p:sp>
      <p:sp>
        <p:nvSpPr>
          <p:cNvPr id="421" name="Google Shape;421;p21"/>
          <p:cNvSpPr/>
          <p:nvPr/>
        </p:nvSpPr>
        <p:spPr>
          <a:xfrm>
            <a:off x="6365602" y="3614365"/>
            <a:ext cx="2267694" cy="500062"/>
          </a:xfrm>
          <a:prstGeom prst="roundRect">
            <a:avLst>
              <a:gd fmla="val 13714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1315" y="3614365"/>
            <a:ext cx="5715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1"/>
          <p:cNvSpPr/>
          <p:nvPr/>
        </p:nvSpPr>
        <p:spPr>
          <a:xfrm>
            <a:off x="6519342" y="3744516"/>
            <a:ext cx="2003078" cy="27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validate_all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 дубли ID,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errors vs warnings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структурированный отчёт</a:t>
            </a:r>
            <a:endParaRPr b="0" i="0" sz="750" u="none" cap="none" strike="noStrike"/>
          </a:p>
        </p:txBody>
      </p:sp>
      <p:sp>
        <p:nvSpPr>
          <p:cNvPr id="424" name="Google Shape;424;p21"/>
          <p:cNvSpPr/>
          <p:nvPr/>
        </p:nvSpPr>
        <p:spPr>
          <a:xfrm>
            <a:off x="515392" y="4274865"/>
            <a:ext cx="8113216" cy="481385"/>
          </a:xfrm>
          <a:prstGeom prst="roundRect">
            <a:avLst>
              <a:gd fmla="val 3012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5" name="Google Shape;425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11981" y="4406280"/>
            <a:ext cx="120774" cy="96589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1"/>
          <p:cNvSpPr/>
          <p:nvPr/>
        </p:nvSpPr>
        <p:spPr>
          <a:xfrm>
            <a:off x="829345" y="4389537"/>
            <a:ext cx="7702674" cy="273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b="1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Эффект вклада: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данные стали предсказуемыми, контент — машинно-обрабатываемым, ошибки выявляются на раннем этапе. Слой «данные + качество» стал системным фундаментом платформы.</a:t>
            </a:r>
            <a:endParaRPr b="0" i="0" sz="750" u="none" cap="none" strike="noStrike"/>
          </a:p>
        </p:txBody>
      </p:sp>
      <p:sp>
        <p:nvSpPr>
          <p:cNvPr id="427" name="Google Shape;427;p21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"/>
          <p:cNvSpPr/>
          <p:nvPr/>
        </p:nvSpPr>
        <p:spPr>
          <a:xfrm>
            <a:off x="523577" y="367978"/>
            <a:ext cx="636538" cy="168771"/>
          </a:xfrm>
          <a:prstGeom prst="roundRect">
            <a:avLst>
              <a:gd fmla="val 6981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439" y="413072"/>
            <a:ext cx="78507" cy="7850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2"/>
          <p:cNvSpPr/>
          <p:nvPr/>
        </p:nvSpPr>
        <p:spPr>
          <a:xfrm>
            <a:off x="700162" y="397371"/>
            <a:ext cx="858292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ИНЖЕНЕР 3</a:t>
            </a:r>
            <a:endParaRPr b="0" i="0" sz="600" u="none" cap="none" strike="noStrike"/>
          </a:p>
        </p:txBody>
      </p:sp>
      <p:sp>
        <p:nvSpPr>
          <p:cNvPr id="436" name="Google Shape;436;p22"/>
          <p:cNvSpPr/>
          <p:nvPr/>
        </p:nvSpPr>
        <p:spPr>
          <a:xfrm>
            <a:off x="1209154" y="363215"/>
            <a:ext cx="691976" cy="178296"/>
          </a:xfrm>
          <a:prstGeom prst="roundRect">
            <a:avLst>
              <a:gd fmla="val 6608" name="adj"/>
            </a:avLst>
          </a:prstGeom>
          <a:noFill/>
          <a:ln cap="flat" cmpd="sng" w="9525">
            <a:solidFill>
              <a:srgbClr val="F98A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1272778" y="397371"/>
            <a:ext cx="1021928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ЛИЧНЫЙ ВКЛАД</a:t>
            </a:r>
            <a:endParaRPr b="0" i="0" sz="600" u="none" cap="none" strike="noStrike"/>
          </a:p>
        </p:txBody>
      </p:sp>
      <p:sp>
        <p:nvSpPr>
          <p:cNvPr id="438" name="Google Shape;438;p22"/>
          <p:cNvSpPr/>
          <p:nvPr/>
        </p:nvSpPr>
        <p:spPr>
          <a:xfrm>
            <a:off x="1950169" y="367978"/>
            <a:ext cx="481385" cy="168771"/>
          </a:xfrm>
          <a:prstGeom prst="roundRect">
            <a:avLst>
              <a:gd fmla="val 6981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9" name="Google Shape;4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031" y="413072"/>
            <a:ext cx="78507" cy="78507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2"/>
          <p:cNvSpPr/>
          <p:nvPr/>
        </p:nvSpPr>
        <p:spPr>
          <a:xfrm>
            <a:off x="2126754" y="397371"/>
            <a:ext cx="703138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IMPACT</a:t>
            </a:r>
            <a:endParaRPr b="0" i="0" sz="600" u="none" cap="none" strike="noStrike"/>
          </a:p>
        </p:txBody>
      </p:sp>
      <p:sp>
        <p:nvSpPr>
          <p:cNvPr id="441" name="Google Shape;441;p22"/>
          <p:cNvSpPr/>
          <p:nvPr/>
        </p:nvSpPr>
        <p:spPr>
          <a:xfrm>
            <a:off x="523577" y="648816"/>
            <a:ext cx="8096845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52884" y="763414"/>
            <a:ext cx="3403104" cy="3578498"/>
          </a:xfrm>
          <a:prstGeom prst="roundRect">
            <a:avLst>
              <a:gd fmla="val 433" name="adj"/>
            </a:avLst>
          </a:prstGeom>
          <a:solidFill>
            <a:srgbClr val="2B3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1301576" y="837009"/>
            <a:ext cx="1477119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Зона ответственности</a:t>
            </a:r>
            <a:endParaRPr b="0" i="0" sz="900" u="none" cap="none" strike="noStrike"/>
          </a:p>
        </p:txBody>
      </p:sp>
      <p:sp>
        <p:nvSpPr>
          <p:cNvPr id="444" name="Google Shape;444;p22"/>
          <p:cNvSpPr/>
          <p:nvPr/>
        </p:nvSpPr>
        <p:spPr>
          <a:xfrm>
            <a:off x="331812" y="1054968"/>
            <a:ext cx="3416647" cy="3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2500"/>
              <a:buFont typeface="Lora"/>
              <a:buNone/>
            </a:pPr>
            <a:r>
              <a:rPr b="0" i="0" lang="en-US" sz="2500" u="none" cap="none" strike="noStrike">
                <a:solidFill>
                  <a:srgbClr val="B4C6CA"/>
                </a:solidFill>
                <a:latin typeface="Lora"/>
                <a:ea typeface="Lora"/>
                <a:cs typeface="Lora"/>
                <a:sym typeface="Lora"/>
              </a:rPr>
              <a:t>generator.py</a:t>
            </a:r>
            <a:endParaRPr b="0" i="0" sz="2500" u="none" cap="none" strike="noStrike"/>
          </a:p>
        </p:txBody>
      </p:sp>
      <p:sp>
        <p:nvSpPr>
          <p:cNvPr id="445" name="Google Shape;445;p22"/>
          <p:cNvSpPr/>
          <p:nvPr/>
        </p:nvSpPr>
        <p:spPr>
          <a:xfrm>
            <a:off x="331812" y="1527051"/>
            <a:ext cx="3416647" cy="3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2500"/>
              <a:buFont typeface="Lora"/>
              <a:buNone/>
            </a:pPr>
            <a:r>
              <a:rPr b="0" i="0" lang="en-US" sz="2500" u="none" cap="none" strike="noStrike">
                <a:solidFill>
                  <a:srgbClr val="B4C6CA"/>
                </a:solidFill>
                <a:latin typeface="Lora"/>
                <a:ea typeface="Lora"/>
                <a:cs typeface="Lora"/>
                <a:sym typeface="Lora"/>
              </a:rPr>
              <a:t>main.py</a:t>
            </a:r>
            <a:endParaRPr b="0" i="0" sz="2500" u="none" cap="none" strike="noStrike"/>
          </a:p>
        </p:txBody>
      </p:sp>
      <p:sp>
        <p:nvSpPr>
          <p:cNvPr id="446" name="Google Shape;446;p22"/>
          <p:cNvSpPr/>
          <p:nvPr/>
        </p:nvSpPr>
        <p:spPr>
          <a:xfrm>
            <a:off x="551036" y="2032843"/>
            <a:ext cx="3206800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2"/>
          <p:cNvSpPr/>
          <p:nvPr/>
        </p:nvSpPr>
        <p:spPr>
          <a:xfrm>
            <a:off x="745703" y="2196480"/>
            <a:ext cx="1168003" cy="3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550"/>
              <a:buFont typeface="Lora"/>
              <a:buNone/>
            </a:pPr>
            <a:r>
              <a:rPr b="0" i="0" lang="en-US" sz="2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550" u="none" cap="none" strike="noStrike"/>
          </a:p>
        </p:txBody>
      </p:sp>
      <p:sp>
        <p:nvSpPr>
          <p:cNvPr id="448" name="Google Shape;448;p22"/>
          <p:cNvSpPr/>
          <p:nvPr/>
        </p:nvSpPr>
        <p:spPr>
          <a:xfrm>
            <a:off x="752177" y="2624733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Core modules</a:t>
            </a:r>
            <a:endParaRPr b="0" i="0" sz="900" u="none" cap="none" strike="noStrike"/>
          </a:p>
        </p:txBody>
      </p:sp>
      <p:sp>
        <p:nvSpPr>
          <p:cNvPr id="449" name="Google Shape;449;p22"/>
          <p:cNvSpPr/>
          <p:nvPr/>
        </p:nvSpPr>
        <p:spPr>
          <a:xfrm>
            <a:off x="551036" y="2842692"/>
            <a:ext cx="1557412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generator.py + main.py</a:t>
            </a:r>
            <a:endParaRPr b="0" i="0" sz="750" u="none" cap="none" strike="noStrike"/>
          </a:p>
        </p:txBody>
      </p:sp>
      <p:sp>
        <p:nvSpPr>
          <p:cNvPr id="450" name="Google Shape;450;p22"/>
          <p:cNvSpPr/>
          <p:nvPr/>
        </p:nvSpPr>
        <p:spPr>
          <a:xfrm>
            <a:off x="2395091" y="2196480"/>
            <a:ext cx="1168003" cy="3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550"/>
              <a:buFont typeface="Lora"/>
              <a:buNone/>
            </a:pPr>
            <a:r>
              <a:rPr b="0" i="0" lang="en-US" sz="2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b="0" i="0" sz="2550" u="none" cap="none" strike="noStrike"/>
          </a:p>
        </p:txBody>
      </p:sp>
      <p:sp>
        <p:nvSpPr>
          <p:cNvPr id="451" name="Google Shape;451;p22"/>
          <p:cNvSpPr/>
          <p:nvPr/>
        </p:nvSpPr>
        <p:spPr>
          <a:xfrm>
            <a:off x="2401565" y="2624733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CLI commands</a:t>
            </a:r>
            <a:endParaRPr b="0" i="0" sz="900" u="none" cap="none" strike="noStrike"/>
          </a:p>
        </p:txBody>
      </p:sp>
      <p:sp>
        <p:nvSpPr>
          <p:cNvPr id="452" name="Google Shape;452;p22"/>
          <p:cNvSpPr/>
          <p:nvPr/>
        </p:nvSpPr>
        <p:spPr>
          <a:xfrm>
            <a:off x="2200424" y="2842692"/>
            <a:ext cx="1557412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search, validate, registry, new, stats</a:t>
            </a:r>
            <a:endParaRPr b="0" i="0" sz="750" u="none" cap="none" strike="noStrike"/>
          </a:p>
        </p:txBody>
      </p:sp>
      <p:sp>
        <p:nvSpPr>
          <p:cNvPr id="453" name="Google Shape;453;p22"/>
          <p:cNvSpPr/>
          <p:nvPr/>
        </p:nvSpPr>
        <p:spPr>
          <a:xfrm>
            <a:off x="551036" y="3087365"/>
            <a:ext cx="3206800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551036" y="3201963"/>
            <a:ext cx="1566565" cy="1057126"/>
          </a:xfrm>
          <a:prstGeom prst="roundRect">
            <a:avLst>
              <a:gd fmla="val 1393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188" y="3300115"/>
            <a:ext cx="294531" cy="294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6" name="Google Shape;45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151" y="3381077"/>
            <a:ext cx="132531" cy="13253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2"/>
          <p:cNvSpPr/>
          <p:nvPr/>
        </p:nvSpPr>
        <p:spPr>
          <a:xfrm>
            <a:off x="649188" y="3668241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⚙️</a:t>
            </a: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Генерация</a:t>
            </a:r>
            <a:endParaRPr b="0" i="0" sz="900" u="none" cap="none" strike="noStrike"/>
          </a:p>
        </p:txBody>
      </p:sp>
      <p:sp>
        <p:nvSpPr>
          <p:cNvPr id="458" name="Google Shape;458;p22"/>
          <p:cNvSpPr/>
          <p:nvPr/>
        </p:nvSpPr>
        <p:spPr>
          <a:xfrm>
            <a:off x="649188" y="3886200"/>
            <a:ext cx="1370261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Автоматизация создания контента по шаблонам</a:t>
            </a:r>
            <a:endParaRPr b="0" i="0" sz="750" u="none" cap="none" strike="noStrike"/>
          </a:p>
        </p:txBody>
      </p:sp>
      <p:sp>
        <p:nvSpPr>
          <p:cNvPr id="459" name="Google Shape;459;p22"/>
          <p:cNvSpPr/>
          <p:nvPr/>
        </p:nvSpPr>
        <p:spPr>
          <a:xfrm>
            <a:off x="2191196" y="3201963"/>
            <a:ext cx="1566639" cy="1057126"/>
          </a:xfrm>
          <a:prstGeom prst="roundRect">
            <a:avLst>
              <a:gd fmla="val 1393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0" name="Google Shape;46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89349" y="3300115"/>
            <a:ext cx="294531" cy="294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1" name="Google Shape;46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70311" y="3381077"/>
            <a:ext cx="132531" cy="13253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2"/>
          <p:cNvSpPr/>
          <p:nvPr/>
        </p:nvSpPr>
        <p:spPr>
          <a:xfrm>
            <a:off x="2289349" y="3668241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🖥️</a:t>
            </a: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CLI</a:t>
            </a:r>
            <a:endParaRPr b="0" i="0" sz="900" u="none" cap="none" strike="noStrike"/>
          </a:p>
        </p:txBody>
      </p:sp>
      <p:sp>
        <p:nvSpPr>
          <p:cNvPr id="463" name="Google Shape;463;p22"/>
          <p:cNvSpPr/>
          <p:nvPr/>
        </p:nvSpPr>
        <p:spPr>
          <a:xfrm>
            <a:off x="2289349" y="3886200"/>
            <a:ext cx="1370335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Единая точка входа, production-ready workflow</a:t>
            </a:r>
            <a:endParaRPr b="0" i="0" sz="750" u="none" cap="none" strike="noStrike"/>
          </a:p>
        </p:txBody>
      </p:sp>
      <p:sp>
        <p:nvSpPr>
          <p:cNvPr id="464" name="Google Shape;464;p22"/>
          <p:cNvSpPr/>
          <p:nvPr/>
        </p:nvSpPr>
        <p:spPr>
          <a:xfrm>
            <a:off x="4029521" y="837009"/>
            <a:ext cx="2683371" cy="149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generator.py</a:t>
            </a: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 — автоматизация контента</a:t>
            </a:r>
            <a:endParaRPr b="0" i="0" sz="900" u="none" cap="none" strike="noStrike"/>
          </a:p>
        </p:txBody>
      </p:sp>
      <p:pic>
        <p:nvPicPr>
          <p:cNvPr descr="preencoded.png" id="465" name="Google Shape;46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66282" y="1073795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2"/>
          <p:cNvSpPr/>
          <p:nvPr/>
        </p:nvSpPr>
        <p:spPr>
          <a:xfrm>
            <a:off x="4348535" y="1068958"/>
            <a:ext cx="1932756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Генерация новых единиц знаний по шаблонам с автоматическим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frontmatter</a:t>
            </a:r>
            <a:endParaRPr b="0" i="0" sz="750" u="none" cap="none" strike="noStrike"/>
          </a:p>
        </p:txBody>
      </p:sp>
      <p:pic>
        <p:nvPicPr>
          <p:cNvPr descr="preencoded.png" id="467" name="Google Shape;46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0027" y="1073795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2"/>
          <p:cNvSpPr/>
          <p:nvPr/>
        </p:nvSpPr>
        <p:spPr>
          <a:xfrm>
            <a:off x="6692280" y="1068958"/>
            <a:ext cx="1932831" cy="41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Маппинг доменов и категорий в директории, транслитерация,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slug-генерация</a:t>
            </a:r>
            <a:endParaRPr b="0" i="0" sz="750" u="none" cap="none" strike="noStrike"/>
          </a:p>
        </p:txBody>
      </p:sp>
      <p:pic>
        <p:nvPicPr>
          <p:cNvPr descr="preencoded.png" id="469" name="Google Shape;46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66282" y="1633165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2"/>
          <p:cNvSpPr/>
          <p:nvPr/>
        </p:nvSpPr>
        <p:spPr>
          <a:xfrm>
            <a:off x="4348535" y="1628329"/>
            <a:ext cx="1932756" cy="2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Интеграция с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registry.py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для присвоения </a:t>
            </a: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следующего корректного ID</a:t>
            </a:r>
            <a:endParaRPr b="0" i="0" sz="750" u="none" cap="none" strike="noStrike"/>
          </a:p>
        </p:txBody>
      </p:sp>
      <p:pic>
        <p:nvPicPr>
          <p:cNvPr descr="preencoded.png" id="471" name="Google Shape;47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0027" y="1633165"/>
            <a:ext cx="147265" cy="1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2"/>
          <p:cNvSpPr/>
          <p:nvPr/>
        </p:nvSpPr>
        <p:spPr>
          <a:xfrm>
            <a:off x="6692280" y="1628329"/>
            <a:ext cx="1932831" cy="2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Режим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--dry-run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 файл не создаётся, превью результата</a:t>
            </a:r>
            <a:endParaRPr b="0" i="0" sz="750" u="none" cap="none" strike="noStrike"/>
          </a:p>
        </p:txBody>
      </p:sp>
      <p:sp>
        <p:nvSpPr>
          <p:cNvPr id="473" name="Google Shape;473;p22"/>
          <p:cNvSpPr/>
          <p:nvPr/>
        </p:nvSpPr>
        <p:spPr>
          <a:xfrm>
            <a:off x="4029521" y="2035001"/>
            <a:ext cx="4595589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4" name="Google Shape;47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29521" y="2161877"/>
            <a:ext cx="98152" cy="98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5" name="Google Shape;475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29521" y="2302073"/>
            <a:ext cx="2260997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2"/>
          <p:cNvSpPr/>
          <p:nvPr/>
        </p:nvSpPr>
        <p:spPr>
          <a:xfrm>
            <a:off x="4029521" y="2379687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Template</a:t>
            </a:r>
            <a:endParaRPr b="0" i="0" sz="900" u="none" cap="none" strike="noStrike"/>
          </a:p>
        </p:txBody>
      </p:sp>
      <p:sp>
        <p:nvSpPr>
          <p:cNvPr id="477" name="Google Shape;477;p22"/>
          <p:cNvSpPr/>
          <p:nvPr/>
        </p:nvSpPr>
        <p:spPr>
          <a:xfrm>
            <a:off x="4029521" y="2597646"/>
            <a:ext cx="2260997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Берём шаблон и заполняем структуру</a:t>
            </a:r>
            <a:endParaRPr b="0" i="0" sz="750" u="none" cap="none" strike="noStrike"/>
          </a:p>
        </p:txBody>
      </p:sp>
      <p:pic>
        <p:nvPicPr>
          <p:cNvPr descr="preencoded.png" id="478" name="Google Shape;478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64114" y="2161877"/>
            <a:ext cx="98152" cy="98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9" name="Google Shape;479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64114" y="2302073"/>
            <a:ext cx="2260997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2"/>
          <p:cNvSpPr/>
          <p:nvPr/>
        </p:nvSpPr>
        <p:spPr>
          <a:xfrm>
            <a:off x="6364114" y="2379687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ID</a:t>
            </a:r>
            <a:endParaRPr b="0" i="0" sz="900" u="none" cap="none" strike="noStrike"/>
          </a:p>
        </p:txBody>
      </p:sp>
      <p:sp>
        <p:nvSpPr>
          <p:cNvPr id="481" name="Google Shape;481;p22"/>
          <p:cNvSpPr/>
          <p:nvPr/>
        </p:nvSpPr>
        <p:spPr>
          <a:xfrm>
            <a:off x="6364114" y="2597646"/>
            <a:ext cx="2260997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Получаем следующий корректный идентификатор</a:t>
            </a:r>
            <a:endParaRPr b="0" i="0" sz="750" u="none" cap="none" strike="noStrike"/>
          </a:p>
        </p:txBody>
      </p:sp>
      <p:pic>
        <p:nvPicPr>
          <p:cNvPr descr="preencoded.png" id="482" name="Google Shape;482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029521" y="2874913"/>
            <a:ext cx="98152" cy="98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3" name="Google Shape;483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029521" y="3015109"/>
            <a:ext cx="4595589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2"/>
          <p:cNvSpPr/>
          <p:nvPr/>
        </p:nvSpPr>
        <p:spPr>
          <a:xfrm>
            <a:off x="4029521" y="3112294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Preview</a:t>
            </a:r>
            <a:endParaRPr b="0" i="0" sz="900" u="none" cap="none" strike="noStrike"/>
          </a:p>
        </p:txBody>
      </p:sp>
      <p:sp>
        <p:nvSpPr>
          <p:cNvPr id="485" name="Google Shape;485;p22"/>
          <p:cNvSpPr/>
          <p:nvPr/>
        </p:nvSpPr>
        <p:spPr>
          <a:xfrm>
            <a:off x="4029521" y="3330253"/>
            <a:ext cx="4595589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Проверяем результат в dry-run</a:t>
            </a:r>
            <a:endParaRPr b="0" i="0" sz="750" u="none" cap="none" strike="noStrike"/>
          </a:p>
        </p:txBody>
      </p:sp>
      <p:sp>
        <p:nvSpPr>
          <p:cNvPr id="486" name="Google Shape;486;p22"/>
          <p:cNvSpPr/>
          <p:nvPr/>
        </p:nvSpPr>
        <p:spPr>
          <a:xfrm>
            <a:off x="523577" y="4424735"/>
            <a:ext cx="8096845" cy="355476"/>
          </a:xfrm>
          <a:prstGeom prst="roundRect">
            <a:avLst>
              <a:gd fmla="val 4143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1729" y="4556671"/>
            <a:ext cx="122709" cy="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2"/>
          <p:cNvSpPr/>
          <p:nvPr/>
        </p:nvSpPr>
        <p:spPr>
          <a:xfrm>
            <a:off x="842590" y="4522812"/>
            <a:ext cx="8136880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b="1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Эффект вклада: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создание материалов ускорено шаблонами, все модули объединены в единый интерфейс. Инженер 3 замкнул full-stack CLI-цикл платформы.</a:t>
            </a:r>
            <a:endParaRPr b="0" i="0" sz="750" u="none" cap="none" strike="noStrike"/>
          </a:p>
        </p:txBody>
      </p:sp>
      <p:sp>
        <p:nvSpPr>
          <p:cNvPr id="489" name="Google Shape;489;p22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3"/>
          <p:cNvSpPr/>
          <p:nvPr/>
        </p:nvSpPr>
        <p:spPr>
          <a:xfrm>
            <a:off x="523577" y="426095"/>
            <a:ext cx="1093515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B4C6CA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СЛАЙД 25 · ФИНАЛ</a:t>
            </a:r>
            <a:endParaRPr b="0" i="0" sz="600" u="none" cap="none" strike="noStrike"/>
          </a:p>
        </p:txBody>
      </p:sp>
      <p:sp>
        <p:nvSpPr>
          <p:cNvPr id="496" name="Google Shape;496;p23"/>
          <p:cNvSpPr/>
          <p:nvPr/>
        </p:nvSpPr>
        <p:spPr>
          <a:xfrm>
            <a:off x="2772817" y="594866"/>
            <a:ext cx="3369766" cy="288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800"/>
              <a:buFont typeface="Lora"/>
              <a:buNone/>
            </a:pPr>
            <a:r>
              <a:rPr b="0" i="0" lang="en-US" sz="18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Командный итог и Roadmap</a:t>
            </a:r>
            <a:endParaRPr b="0" i="0" sz="1800" u="none" cap="none" strike="noStrike"/>
          </a:p>
        </p:txBody>
      </p:sp>
      <p:sp>
        <p:nvSpPr>
          <p:cNvPr id="497" name="Google Shape;497;p23"/>
          <p:cNvSpPr/>
          <p:nvPr/>
        </p:nvSpPr>
        <p:spPr>
          <a:xfrm>
            <a:off x="523577" y="1018580"/>
            <a:ext cx="8096845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523577" y="1133177"/>
            <a:ext cx="8096845" cy="619944"/>
          </a:xfrm>
          <a:prstGeom prst="roundRect">
            <a:avLst>
              <a:gd fmla="val 2376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523577" y="1133177"/>
            <a:ext cx="2698924" cy="619944"/>
          </a:xfrm>
          <a:prstGeom prst="roundRect">
            <a:avLst>
              <a:gd fmla="val 2376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597173" y="1206773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Инженер 1</a:t>
            </a:r>
            <a:endParaRPr b="0" i="0" sz="900" u="none" cap="none" strike="noStrike"/>
          </a:p>
        </p:txBody>
      </p:sp>
      <p:sp>
        <p:nvSpPr>
          <p:cNvPr id="501" name="Google Shape;501;p23"/>
          <p:cNvSpPr/>
          <p:nvPr/>
        </p:nvSpPr>
        <p:spPr>
          <a:xfrm>
            <a:off x="597173" y="1395264"/>
            <a:ext cx="2441302" cy="2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search.py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registry.py</a:t>
            </a:r>
            <a:endParaRPr b="0" i="0" sz="750" u="none" cap="none" strike="noStrike"/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Доступ и индексируемость</a:t>
            </a:r>
            <a:endParaRPr b="0" i="0" sz="750" u="none" cap="none" strike="noStrike"/>
          </a:p>
        </p:txBody>
      </p:sp>
      <p:sp>
        <p:nvSpPr>
          <p:cNvPr id="502" name="Google Shape;502;p23"/>
          <p:cNvSpPr/>
          <p:nvPr/>
        </p:nvSpPr>
        <p:spPr>
          <a:xfrm>
            <a:off x="3222501" y="1133177"/>
            <a:ext cx="2698924" cy="619944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3"/>
          <p:cNvSpPr/>
          <p:nvPr/>
        </p:nvSpPr>
        <p:spPr>
          <a:xfrm>
            <a:off x="3222501" y="1133177"/>
            <a:ext cx="14288" cy="619944"/>
          </a:xfrm>
          <a:prstGeom prst="roundRect">
            <a:avLst>
              <a:gd fmla="val 103076" name="adj"/>
            </a:avLst>
          </a:prstGeom>
          <a:solidFill>
            <a:srgbClr val="5D6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3"/>
          <p:cNvSpPr/>
          <p:nvPr/>
        </p:nvSpPr>
        <p:spPr>
          <a:xfrm>
            <a:off x="3406527" y="1206773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Инженер 2</a:t>
            </a:r>
            <a:endParaRPr b="0" i="0" sz="900" u="none" cap="none" strike="noStrike"/>
          </a:p>
        </p:txBody>
      </p:sp>
      <p:sp>
        <p:nvSpPr>
          <p:cNvPr id="505" name="Google Shape;505;p23"/>
          <p:cNvSpPr/>
          <p:nvPr/>
        </p:nvSpPr>
        <p:spPr>
          <a:xfrm>
            <a:off x="3406527" y="1395264"/>
            <a:ext cx="2330872" cy="2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parser.py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validator.py</a:t>
            </a:r>
            <a:endParaRPr b="0" i="0" sz="750" u="none" cap="none" strike="noStrike"/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Структурность и quality gate</a:t>
            </a:r>
            <a:endParaRPr b="0" i="0" sz="750" u="none" cap="none" strike="noStrike"/>
          </a:p>
        </p:txBody>
      </p:sp>
      <p:sp>
        <p:nvSpPr>
          <p:cNvPr id="506" name="Google Shape;506;p23"/>
          <p:cNvSpPr/>
          <p:nvPr/>
        </p:nvSpPr>
        <p:spPr>
          <a:xfrm>
            <a:off x="3099792" y="1320403"/>
            <a:ext cx="245418" cy="245418"/>
          </a:xfrm>
          <a:prstGeom prst="roundRect">
            <a:avLst>
              <a:gd fmla="val 6001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7" name="Google Shape;5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1109" y="1381720"/>
            <a:ext cx="122709" cy="122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3"/>
          <p:cNvSpPr/>
          <p:nvPr/>
        </p:nvSpPr>
        <p:spPr>
          <a:xfrm>
            <a:off x="5921425" y="1133177"/>
            <a:ext cx="2698924" cy="619944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3"/>
          <p:cNvSpPr/>
          <p:nvPr/>
        </p:nvSpPr>
        <p:spPr>
          <a:xfrm>
            <a:off x="5921425" y="1133177"/>
            <a:ext cx="14288" cy="619944"/>
          </a:xfrm>
          <a:prstGeom prst="roundRect">
            <a:avLst>
              <a:gd fmla="val 103076" name="adj"/>
            </a:avLst>
          </a:prstGeom>
          <a:solidFill>
            <a:srgbClr val="5D6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6105451" y="1206773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Инженер 3</a:t>
            </a:r>
            <a:endParaRPr b="0" i="0" sz="900" u="none" cap="none" strike="noStrike"/>
          </a:p>
        </p:txBody>
      </p:sp>
      <p:sp>
        <p:nvSpPr>
          <p:cNvPr id="511" name="Google Shape;511;p23"/>
          <p:cNvSpPr/>
          <p:nvPr/>
        </p:nvSpPr>
        <p:spPr>
          <a:xfrm>
            <a:off x="6105451" y="1395264"/>
            <a:ext cx="2441302" cy="2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generator.py</a:t>
            </a: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main.py</a:t>
            </a:r>
            <a:endParaRPr b="0" i="0" sz="750" u="none" cap="none" strike="noStrike"/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Автоматизация и CLI-интеграция</a:t>
            </a:r>
            <a:endParaRPr b="0" i="0" sz="750" u="none" cap="none" strike="noStrike"/>
          </a:p>
        </p:txBody>
      </p:sp>
      <p:sp>
        <p:nvSpPr>
          <p:cNvPr id="512" name="Google Shape;512;p23"/>
          <p:cNvSpPr/>
          <p:nvPr/>
        </p:nvSpPr>
        <p:spPr>
          <a:xfrm>
            <a:off x="5798716" y="1320403"/>
            <a:ext cx="245418" cy="245418"/>
          </a:xfrm>
          <a:prstGeom prst="roundRect">
            <a:avLst>
              <a:gd fmla="val 6001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3" name="Google Shape;5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0033" y="1381720"/>
            <a:ext cx="122709" cy="122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3"/>
          <p:cNvSpPr/>
          <p:nvPr/>
        </p:nvSpPr>
        <p:spPr>
          <a:xfrm>
            <a:off x="523577" y="1860426"/>
            <a:ext cx="8096845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/>
          <p:nvPr/>
        </p:nvSpPr>
        <p:spPr>
          <a:xfrm>
            <a:off x="523577" y="2048619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Roadmap</a:t>
            </a:r>
            <a:endParaRPr b="0" i="0" sz="900" u="none" cap="none" strike="noStrike"/>
          </a:p>
        </p:txBody>
      </p:sp>
      <p:sp>
        <p:nvSpPr>
          <p:cNvPr id="516" name="Google Shape;516;p23"/>
          <p:cNvSpPr/>
          <p:nvPr/>
        </p:nvSpPr>
        <p:spPr>
          <a:xfrm>
            <a:off x="523577" y="2275805"/>
            <a:ext cx="196304" cy="122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Lora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01</a:t>
            </a:r>
            <a:endParaRPr b="0" i="0" sz="750" u="none" cap="none" strike="noStrike"/>
          </a:p>
        </p:txBody>
      </p:sp>
      <p:pic>
        <p:nvPicPr>
          <p:cNvPr descr="preencoded.png" id="517" name="Google Shape;5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77" y="2428280"/>
            <a:ext cx="1927547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3"/>
          <p:cNvSpPr/>
          <p:nvPr/>
        </p:nvSpPr>
        <p:spPr>
          <a:xfrm>
            <a:off x="523577" y="2505894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Полный frontmatter</a:t>
            </a:r>
            <a:endParaRPr b="0" i="0" sz="900" u="none" cap="none" strike="noStrike"/>
          </a:p>
        </p:txBody>
      </p:sp>
      <p:sp>
        <p:nvSpPr>
          <p:cNvPr id="519" name="Google Shape;519;p23"/>
          <p:cNvSpPr/>
          <p:nvPr/>
        </p:nvSpPr>
        <p:spPr>
          <a:xfrm>
            <a:off x="523577" y="2723852"/>
            <a:ext cx="1927547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Довести все Markdown-файлы до полного YAML-стандарта (сейчас 51 в review)</a:t>
            </a:r>
            <a:endParaRPr b="0" i="0" sz="750" u="none" cap="none" strike="noStrike"/>
          </a:p>
        </p:txBody>
      </p:sp>
      <p:sp>
        <p:nvSpPr>
          <p:cNvPr id="520" name="Google Shape;520;p23"/>
          <p:cNvSpPr/>
          <p:nvPr/>
        </p:nvSpPr>
        <p:spPr>
          <a:xfrm>
            <a:off x="2524720" y="2275805"/>
            <a:ext cx="196304" cy="122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Lora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02</a:t>
            </a:r>
            <a:endParaRPr b="0" i="0" sz="750" u="none" cap="none" strike="noStrike"/>
          </a:p>
        </p:txBody>
      </p:sp>
      <p:pic>
        <p:nvPicPr>
          <p:cNvPr descr="preencoded.png" id="521" name="Google Shape;5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4720" y="2428280"/>
            <a:ext cx="1927547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3"/>
          <p:cNvSpPr/>
          <p:nvPr/>
        </p:nvSpPr>
        <p:spPr>
          <a:xfrm>
            <a:off x="2524720" y="2505894"/>
            <a:ext cx="1237059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Расширение контента</a:t>
            </a:r>
            <a:endParaRPr b="0" i="0" sz="900" u="none" cap="none" strike="noStrike"/>
          </a:p>
        </p:txBody>
      </p:sp>
      <p:sp>
        <p:nvSpPr>
          <p:cNvPr id="523" name="Google Shape;523;p23"/>
          <p:cNvSpPr/>
          <p:nvPr/>
        </p:nvSpPr>
        <p:spPr>
          <a:xfrm>
            <a:off x="2524720" y="2723852"/>
            <a:ext cx="1927547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Увеличить объём единиц знаний по ТЗ в доменах arch, cs, process</a:t>
            </a:r>
            <a:endParaRPr b="0" i="0" sz="750" u="none" cap="none" strike="noStrike"/>
          </a:p>
        </p:txBody>
      </p:sp>
      <p:sp>
        <p:nvSpPr>
          <p:cNvPr id="524" name="Google Shape;524;p23"/>
          <p:cNvSpPr/>
          <p:nvPr/>
        </p:nvSpPr>
        <p:spPr>
          <a:xfrm>
            <a:off x="523577" y="3145780"/>
            <a:ext cx="196304" cy="122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Lora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03</a:t>
            </a:r>
            <a:endParaRPr b="0" i="0" sz="750" u="none" cap="none" strike="noStrike"/>
          </a:p>
        </p:txBody>
      </p:sp>
      <p:pic>
        <p:nvPicPr>
          <p:cNvPr descr="preencoded.png" id="525" name="Google Shape;52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577" y="3278684"/>
            <a:ext cx="3928690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3"/>
          <p:cNvSpPr/>
          <p:nvPr/>
        </p:nvSpPr>
        <p:spPr>
          <a:xfrm>
            <a:off x="523577" y="3375868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Метрики качества</a:t>
            </a:r>
            <a:endParaRPr b="0" i="0" sz="900" u="none" cap="none" strike="noStrike"/>
          </a:p>
        </p:txBody>
      </p:sp>
      <p:sp>
        <p:nvSpPr>
          <p:cNvPr id="527" name="Google Shape;527;p23"/>
          <p:cNvSpPr/>
          <p:nvPr/>
        </p:nvSpPr>
        <p:spPr>
          <a:xfrm>
            <a:off x="523577" y="3593827"/>
            <a:ext cx="3928690" cy="146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Дополнительные аналитические метрики контента в </a:t>
            </a:r>
            <a:r>
              <a:rPr b="0" i="0" lang="en-US" sz="750" u="none" cap="none" strike="noStrike">
                <a:solidFill>
                  <a:srgbClr val="D6E5EF"/>
                </a:solidFill>
                <a:highlight>
                  <a:srgbClr val="323540"/>
                </a:highlight>
                <a:latin typeface="Consolas"/>
                <a:ea typeface="Consolas"/>
                <a:cs typeface="Consolas"/>
                <a:sym typeface="Consolas"/>
              </a:rPr>
              <a:t>stats</a:t>
            </a:r>
            <a:endParaRPr b="0" i="0" sz="750" u="none" cap="none" strike="noStrike"/>
          </a:p>
        </p:txBody>
      </p:sp>
      <p:sp>
        <p:nvSpPr>
          <p:cNvPr id="528" name="Google Shape;528;p23"/>
          <p:cNvSpPr/>
          <p:nvPr/>
        </p:nvSpPr>
        <p:spPr>
          <a:xfrm>
            <a:off x="4625801" y="1975024"/>
            <a:ext cx="4070077" cy="2771775"/>
          </a:xfrm>
          <a:prstGeom prst="roundRect">
            <a:avLst>
              <a:gd fmla="val 531" name="adj"/>
            </a:avLst>
          </a:prstGeom>
          <a:solidFill>
            <a:srgbClr val="314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5854675" y="2048619"/>
            <a:ext cx="13836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Итог</a:t>
            </a:r>
            <a:endParaRPr b="0" i="0" sz="900" u="none" cap="none" strike="noStrike"/>
          </a:p>
        </p:txBody>
      </p:sp>
      <p:sp>
        <p:nvSpPr>
          <p:cNvPr id="530" name="Google Shape;530;p23"/>
          <p:cNvSpPr/>
          <p:nvPr/>
        </p:nvSpPr>
        <p:spPr>
          <a:xfrm>
            <a:off x="5208166" y="2324844"/>
            <a:ext cx="2905274" cy="3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550"/>
              <a:buFont typeface="Lora"/>
              <a:buNone/>
            </a:pPr>
            <a:r>
              <a:rPr b="0" i="0" lang="en-US" sz="2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177</a:t>
            </a:r>
            <a:endParaRPr b="0" i="0" sz="2550" u="none" cap="none" strike="noStrike"/>
          </a:p>
        </p:txBody>
      </p:sp>
      <p:sp>
        <p:nvSpPr>
          <p:cNvPr id="531" name="Google Shape;531;p23"/>
          <p:cNvSpPr/>
          <p:nvPr/>
        </p:nvSpPr>
        <p:spPr>
          <a:xfrm>
            <a:off x="6083275" y="2753097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passed tests</a:t>
            </a:r>
            <a:endParaRPr b="0" i="0" sz="900" u="none" cap="none" strike="noStrike"/>
          </a:p>
        </p:txBody>
      </p:sp>
      <p:sp>
        <p:nvSpPr>
          <p:cNvPr id="532" name="Google Shape;532;p23"/>
          <p:cNvSpPr/>
          <p:nvPr/>
        </p:nvSpPr>
        <p:spPr>
          <a:xfrm>
            <a:off x="4723954" y="2971056"/>
            <a:ext cx="3873773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Инженерная зрелость</a:t>
            </a:r>
            <a:endParaRPr b="0" i="0" sz="750" u="none" cap="none" strike="noStrike"/>
          </a:p>
        </p:txBody>
      </p:sp>
      <p:sp>
        <p:nvSpPr>
          <p:cNvPr id="533" name="Google Shape;533;p23"/>
          <p:cNvSpPr/>
          <p:nvPr/>
        </p:nvSpPr>
        <p:spPr>
          <a:xfrm>
            <a:off x="5208166" y="3304729"/>
            <a:ext cx="2905274" cy="3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550"/>
              <a:buFont typeface="Lora"/>
              <a:buNone/>
            </a:pPr>
            <a:r>
              <a:rPr b="0" i="0" lang="en-US" sz="25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60</a:t>
            </a:r>
            <a:endParaRPr b="0" i="0" sz="2550" u="none" cap="none" strike="noStrike"/>
          </a:p>
        </p:txBody>
      </p:sp>
      <p:sp>
        <p:nvSpPr>
          <p:cNvPr id="534" name="Google Shape;534;p23"/>
          <p:cNvSpPr/>
          <p:nvPr/>
        </p:nvSpPr>
        <p:spPr>
          <a:xfrm>
            <a:off x="6083275" y="3732981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единиц знаний</a:t>
            </a:r>
            <a:endParaRPr b="0" i="0" sz="900" u="none" cap="none" strike="noStrike"/>
          </a:p>
        </p:txBody>
      </p:sp>
      <p:sp>
        <p:nvSpPr>
          <p:cNvPr id="535" name="Google Shape;535;p23"/>
          <p:cNvSpPr/>
          <p:nvPr/>
        </p:nvSpPr>
        <p:spPr>
          <a:xfrm>
            <a:off x="4723954" y="3950940"/>
            <a:ext cx="3873773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 база растёт</a:t>
            </a:r>
            <a:endParaRPr b="0" i="0" sz="750" u="none" cap="none" strike="noStrike"/>
          </a:p>
        </p:txBody>
      </p:sp>
      <p:sp>
        <p:nvSpPr>
          <p:cNvPr id="536" name="Google Shape;536;p23"/>
          <p:cNvSpPr/>
          <p:nvPr/>
        </p:nvSpPr>
        <p:spPr>
          <a:xfrm>
            <a:off x="4723954" y="4171131"/>
            <a:ext cx="3873773" cy="492844"/>
          </a:xfrm>
          <a:prstGeom prst="roundRect">
            <a:avLst>
              <a:gd fmla="val 2988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7" name="Google Shape;53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2106" y="4303068"/>
            <a:ext cx="122709" cy="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3"/>
          <p:cNvSpPr/>
          <p:nvPr/>
        </p:nvSpPr>
        <p:spPr>
          <a:xfrm>
            <a:off x="5042967" y="4269209"/>
            <a:ext cx="3456608" cy="279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🚀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Проект готов как фундамент масштабируемой базы подготовки к собеседованиям.</a:t>
            </a:r>
            <a:endParaRPr b="0" i="0" sz="750" u="none" cap="none" strike="noStrike"/>
          </a:p>
        </p:txBody>
      </p:sp>
      <p:sp>
        <p:nvSpPr>
          <p:cNvPr id="539" name="Google Shape;539;p23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4"/>
          <p:cNvSpPr/>
          <p:nvPr/>
        </p:nvSpPr>
        <p:spPr>
          <a:xfrm>
            <a:off x="523577" y="504527"/>
            <a:ext cx="1440731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B4C6CA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B4C6CA"/>
                </a:solidFill>
                <a:latin typeface="Source Sans 3"/>
                <a:ea typeface="Source Sans 3"/>
                <a:cs typeface="Source Sans 3"/>
                <a:sym typeface="Source Sans 3"/>
              </a:rPr>
              <a:t>ROADMAP · АВТОМАТИЗАЦИЯ</a:t>
            </a:r>
            <a:endParaRPr b="0" i="0" sz="600" u="none" cap="none" strike="noStrike"/>
          </a:p>
        </p:txBody>
      </p:sp>
      <p:sp>
        <p:nvSpPr>
          <p:cNvPr id="546" name="Google Shape;546;p24"/>
          <p:cNvSpPr/>
          <p:nvPr/>
        </p:nvSpPr>
        <p:spPr>
          <a:xfrm>
            <a:off x="1541562" y="673298"/>
            <a:ext cx="5832277" cy="288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800"/>
              <a:buFont typeface="Lora"/>
              <a:buNone/>
            </a:pPr>
            <a:r>
              <a:rPr b="0" i="0" lang="en-US" sz="18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Будущее автоматизации: Расширение платформы</a:t>
            </a:r>
            <a:endParaRPr b="0" i="0" sz="1800" u="none" cap="none" strike="noStrike"/>
          </a:p>
        </p:txBody>
      </p:sp>
      <p:sp>
        <p:nvSpPr>
          <p:cNvPr id="547" name="Google Shape;547;p24"/>
          <p:cNvSpPr/>
          <p:nvPr/>
        </p:nvSpPr>
        <p:spPr>
          <a:xfrm>
            <a:off x="294977" y="1072530"/>
            <a:ext cx="8325445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План развития для дальнейшего повышения эффективности и персонализации в системе управления знаниями.</a:t>
            </a:r>
            <a:endParaRPr b="0" i="0" sz="750" u="none" cap="none" strike="noStrike"/>
          </a:p>
        </p:txBody>
      </p:sp>
      <p:sp>
        <p:nvSpPr>
          <p:cNvPr id="548" name="Google Shape;548;p24"/>
          <p:cNvSpPr/>
          <p:nvPr/>
        </p:nvSpPr>
        <p:spPr>
          <a:xfrm>
            <a:off x="523577" y="1317203"/>
            <a:ext cx="8096845" cy="7293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523577" y="1431801"/>
            <a:ext cx="4011588" cy="1293614"/>
          </a:xfrm>
          <a:prstGeom prst="roundRect">
            <a:avLst>
              <a:gd fmla="val 1138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4"/>
          <p:cNvSpPr/>
          <p:nvPr/>
        </p:nvSpPr>
        <p:spPr>
          <a:xfrm>
            <a:off x="537865" y="1446088"/>
            <a:ext cx="3983013" cy="294531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4"/>
          <p:cNvSpPr/>
          <p:nvPr/>
        </p:nvSpPr>
        <p:spPr>
          <a:xfrm>
            <a:off x="2455738" y="1501304"/>
            <a:ext cx="147265" cy="184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1150" u="none" cap="none" strike="noStrike"/>
          </a:p>
        </p:txBody>
      </p:sp>
      <p:sp>
        <p:nvSpPr>
          <p:cNvPr id="552" name="Google Shape;552;p24"/>
          <p:cNvSpPr/>
          <p:nvPr/>
        </p:nvSpPr>
        <p:spPr>
          <a:xfrm>
            <a:off x="636017" y="1814215"/>
            <a:ext cx="549473" cy="168771"/>
          </a:xfrm>
          <a:prstGeom prst="roundRect">
            <a:avLst>
              <a:gd fmla="val 6981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3" name="Google Shape;5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879" y="1859310"/>
            <a:ext cx="78507" cy="7850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4"/>
          <p:cNvSpPr/>
          <p:nvPr/>
        </p:nvSpPr>
        <p:spPr>
          <a:xfrm>
            <a:off x="812602" y="1843608"/>
            <a:ext cx="314027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</a:t>
            </a:r>
            <a:endParaRPr b="0" i="0" sz="600" u="none" cap="none" strike="noStrike"/>
          </a:p>
        </p:txBody>
      </p:sp>
      <p:sp>
        <p:nvSpPr>
          <p:cNvPr id="555" name="Google Shape;555;p24"/>
          <p:cNvSpPr/>
          <p:nvPr/>
        </p:nvSpPr>
        <p:spPr>
          <a:xfrm>
            <a:off x="636017" y="2012379"/>
            <a:ext cx="219588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Автоматизированное пополнение базы</a:t>
            </a:r>
            <a:endParaRPr b="0" i="0" sz="900" u="none" cap="none" strike="noStrike"/>
          </a:p>
        </p:txBody>
      </p:sp>
      <p:sp>
        <p:nvSpPr>
          <p:cNvPr id="556" name="Google Shape;556;p24"/>
          <p:cNvSpPr/>
          <p:nvPr/>
        </p:nvSpPr>
        <p:spPr>
          <a:xfrm>
            <a:off x="636017" y="2200870"/>
            <a:ext cx="3786708" cy="41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Автоматический сбор, парсинг и структурирование информации из различных источников (документация, статьи, репозитории) для непрерывного обновления знаний.</a:t>
            </a:r>
            <a:endParaRPr b="0" i="0" sz="750" u="none" cap="none" strike="noStrike"/>
          </a:p>
        </p:txBody>
      </p:sp>
      <p:sp>
        <p:nvSpPr>
          <p:cNvPr id="557" name="Google Shape;557;p24"/>
          <p:cNvSpPr/>
          <p:nvPr/>
        </p:nvSpPr>
        <p:spPr>
          <a:xfrm>
            <a:off x="4608761" y="1431801"/>
            <a:ext cx="4011662" cy="1293614"/>
          </a:xfrm>
          <a:prstGeom prst="roundRect">
            <a:avLst>
              <a:gd fmla="val 1138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4623048" y="1446088"/>
            <a:ext cx="3983087" cy="294531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4"/>
          <p:cNvSpPr/>
          <p:nvPr/>
        </p:nvSpPr>
        <p:spPr>
          <a:xfrm>
            <a:off x="6540922" y="1501304"/>
            <a:ext cx="147265" cy="184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1150" u="none" cap="none" strike="noStrike"/>
          </a:p>
        </p:txBody>
      </p:sp>
      <p:sp>
        <p:nvSpPr>
          <p:cNvPr id="560" name="Google Shape;560;p24"/>
          <p:cNvSpPr/>
          <p:nvPr/>
        </p:nvSpPr>
        <p:spPr>
          <a:xfrm>
            <a:off x="4721200" y="1814215"/>
            <a:ext cx="549473" cy="168771"/>
          </a:xfrm>
          <a:prstGeom prst="roundRect">
            <a:avLst>
              <a:gd fmla="val 6981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1" name="Google Shape;5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0062" y="1859310"/>
            <a:ext cx="78507" cy="7850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4"/>
          <p:cNvSpPr/>
          <p:nvPr/>
        </p:nvSpPr>
        <p:spPr>
          <a:xfrm>
            <a:off x="4897785" y="1843608"/>
            <a:ext cx="314027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</a:t>
            </a:r>
            <a:endParaRPr b="0" i="0" sz="600" u="none" cap="none" strike="noStrike"/>
          </a:p>
        </p:txBody>
      </p:sp>
      <p:sp>
        <p:nvSpPr>
          <p:cNvPr id="563" name="Google Shape;563;p24"/>
          <p:cNvSpPr/>
          <p:nvPr/>
        </p:nvSpPr>
        <p:spPr>
          <a:xfrm>
            <a:off x="4721200" y="2012379"/>
            <a:ext cx="2281907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Интеллектуальные рекомендации с RAG</a:t>
            </a:r>
            <a:endParaRPr b="0" i="0" sz="900" u="none" cap="none" strike="noStrike"/>
          </a:p>
        </p:txBody>
      </p:sp>
      <p:sp>
        <p:nvSpPr>
          <p:cNvPr id="564" name="Google Shape;564;p24"/>
          <p:cNvSpPr/>
          <p:nvPr/>
        </p:nvSpPr>
        <p:spPr>
          <a:xfrm>
            <a:off x="4721200" y="2200870"/>
            <a:ext cx="3786783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Интеграция Retrieval-Augmented Generation для выдачи контекстно-зависимых и точных рекомендаций, улучшающих релевантность поиска и генерацию ответов.</a:t>
            </a:r>
            <a:endParaRPr b="0" i="0" sz="750" u="none" cap="none" strike="noStrike"/>
          </a:p>
        </p:txBody>
      </p:sp>
      <p:sp>
        <p:nvSpPr>
          <p:cNvPr id="565" name="Google Shape;565;p24"/>
          <p:cNvSpPr/>
          <p:nvPr/>
        </p:nvSpPr>
        <p:spPr>
          <a:xfrm>
            <a:off x="523577" y="2799011"/>
            <a:ext cx="4011588" cy="1293614"/>
          </a:xfrm>
          <a:prstGeom prst="roundRect">
            <a:avLst>
              <a:gd fmla="val 1138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4"/>
          <p:cNvSpPr/>
          <p:nvPr/>
        </p:nvSpPr>
        <p:spPr>
          <a:xfrm>
            <a:off x="537865" y="2813298"/>
            <a:ext cx="3983013" cy="294531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4"/>
          <p:cNvSpPr/>
          <p:nvPr/>
        </p:nvSpPr>
        <p:spPr>
          <a:xfrm>
            <a:off x="2455738" y="2868513"/>
            <a:ext cx="147265" cy="184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1150" u="none" cap="none" strike="noStrike"/>
          </a:p>
        </p:txBody>
      </p:sp>
      <p:sp>
        <p:nvSpPr>
          <p:cNvPr id="568" name="Google Shape;568;p24"/>
          <p:cNvSpPr/>
          <p:nvPr/>
        </p:nvSpPr>
        <p:spPr>
          <a:xfrm>
            <a:off x="636017" y="3181424"/>
            <a:ext cx="549473" cy="168771"/>
          </a:xfrm>
          <a:prstGeom prst="roundRect">
            <a:avLst>
              <a:gd fmla="val 6981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9" name="Google Shape;56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879" y="3226519"/>
            <a:ext cx="78507" cy="78507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4"/>
          <p:cNvSpPr/>
          <p:nvPr/>
        </p:nvSpPr>
        <p:spPr>
          <a:xfrm>
            <a:off x="812602" y="3210818"/>
            <a:ext cx="314027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</a:t>
            </a:r>
            <a:endParaRPr b="0" i="0" sz="600" u="none" cap="none" strike="noStrike"/>
          </a:p>
        </p:txBody>
      </p:sp>
      <p:sp>
        <p:nvSpPr>
          <p:cNvPr id="571" name="Google Shape;571;p24"/>
          <p:cNvSpPr/>
          <p:nvPr/>
        </p:nvSpPr>
        <p:spPr>
          <a:xfrm>
            <a:off x="636017" y="3379589"/>
            <a:ext cx="25253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Персонализированные траектории обучения</a:t>
            </a:r>
            <a:endParaRPr b="0" i="0" sz="900" u="none" cap="none" strike="noStrike"/>
          </a:p>
        </p:txBody>
      </p:sp>
      <p:sp>
        <p:nvSpPr>
          <p:cNvPr id="572" name="Google Shape;572;p24"/>
          <p:cNvSpPr/>
          <p:nvPr/>
        </p:nvSpPr>
        <p:spPr>
          <a:xfrm>
            <a:off x="636017" y="3568080"/>
            <a:ext cx="3786708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Динамическое формирование учебных планов, адаптированных под индивидуальные навыки, опыт и цели каждого инженера для максимально эффективного развития.</a:t>
            </a:r>
            <a:endParaRPr b="0" i="0" sz="750" u="none" cap="none" strike="noStrike"/>
          </a:p>
        </p:txBody>
      </p:sp>
      <p:sp>
        <p:nvSpPr>
          <p:cNvPr id="573" name="Google Shape;573;p24"/>
          <p:cNvSpPr/>
          <p:nvPr/>
        </p:nvSpPr>
        <p:spPr>
          <a:xfrm>
            <a:off x="4608761" y="2799011"/>
            <a:ext cx="4011662" cy="1293614"/>
          </a:xfrm>
          <a:prstGeom prst="roundRect">
            <a:avLst>
              <a:gd fmla="val 1138" name="adj"/>
            </a:avLst>
          </a:prstGeom>
          <a:solidFill>
            <a:srgbClr val="252833"/>
          </a:solidFill>
          <a:ln cap="flat" cmpd="sng" w="14275">
            <a:solidFill>
              <a:srgbClr val="5D6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4"/>
          <p:cNvSpPr/>
          <p:nvPr/>
        </p:nvSpPr>
        <p:spPr>
          <a:xfrm>
            <a:off x="4623048" y="2813298"/>
            <a:ext cx="3983087" cy="294531"/>
          </a:xfrm>
          <a:prstGeom prst="rect">
            <a:avLst/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6540922" y="2868513"/>
            <a:ext cx="147265" cy="184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1150" u="none" cap="none" strike="noStrike"/>
          </a:p>
        </p:txBody>
      </p:sp>
      <p:sp>
        <p:nvSpPr>
          <p:cNvPr id="576" name="Google Shape;576;p24"/>
          <p:cNvSpPr/>
          <p:nvPr/>
        </p:nvSpPr>
        <p:spPr>
          <a:xfrm>
            <a:off x="4721200" y="3181424"/>
            <a:ext cx="549473" cy="168771"/>
          </a:xfrm>
          <a:prstGeom prst="roundRect">
            <a:avLst>
              <a:gd fmla="val 6981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7" name="Google Shape;57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0062" y="3226519"/>
            <a:ext cx="78507" cy="78507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4"/>
          <p:cNvSpPr/>
          <p:nvPr/>
        </p:nvSpPr>
        <p:spPr>
          <a:xfrm>
            <a:off x="4897785" y="3210818"/>
            <a:ext cx="314027" cy="10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00"/>
              <a:buFont typeface="Source Sans 3"/>
              <a:buNone/>
            </a:pP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</a:t>
            </a:r>
            <a:endParaRPr b="0" i="0" sz="600" u="none" cap="none" strike="noStrike"/>
          </a:p>
        </p:txBody>
      </p:sp>
      <p:sp>
        <p:nvSpPr>
          <p:cNvPr id="579" name="Google Shape;579;p24"/>
          <p:cNvSpPr/>
          <p:nvPr/>
        </p:nvSpPr>
        <p:spPr>
          <a:xfrm>
            <a:off x="4721200" y="3379589"/>
            <a:ext cx="1679153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Адаптация к стилям обучения</a:t>
            </a:r>
            <a:endParaRPr b="0" i="0" sz="900" u="none" cap="none" strike="noStrike"/>
          </a:p>
        </p:txBody>
      </p:sp>
      <p:sp>
        <p:nvSpPr>
          <p:cNvPr id="580" name="Google Shape;580;p24"/>
          <p:cNvSpPr/>
          <p:nvPr/>
        </p:nvSpPr>
        <p:spPr>
          <a:xfrm>
            <a:off x="4721200" y="3568080"/>
            <a:ext cx="3786783" cy="41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Система будет анализировать предпочтения пользователя (визуальный, аудиальный, практический) и темп усвоения материала, предлагая наиболее эффективные форматы и скорость обучения.</a:t>
            </a:r>
            <a:endParaRPr b="0" i="0" sz="750" u="none" cap="none" strike="noStrike"/>
          </a:p>
        </p:txBody>
      </p:sp>
      <p:sp>
        <p:nvSpPr>
          <p:cNvPr id="581" name="Google Shape;581;p24"/>
          <p:cNvSpPr/>
          <p:nvPr/>
        </p:nvSpPr>
        <p:spPr>
          <a:xfrm>
            <a:off x="523577" y="4175447"/>
            <a:ext cx="8096845" cy="492844"/>
          </a:xfrm>
          <a:prstGeom prst="roundRect">
            <a:avLst>
              <a:gd fmla="val 2988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2" name="Google Shape;58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729" y="4307384"/>
            <a:ext cx="122709" cy="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4"/>
          <p:cNvSpPr/>
          <p:nvPr/>
        </p:nvSpPr>
        <p:spPr>
          <a:xfrm>
            <a:off x="842590" y="4273525"/>
            <a:ext cx="7679680" cy="279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🚀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Эти направления развития обеспечат создание </a:t>
            </a:r>
            <a:r>
              <a:rPr b="1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саморазвивающейся и глубоко персонализированной</a:t>
            </a:r>
            <a:r>
              <a:rPr b="0" i="0" lang="en-US" sz="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платформы для подготовки инженеров, значительно повышая их эффективность.</a:t>
            </a:r>
            <a:endParaRPr b="0" i="0" sz="750" u="none" cap="none" strike="noStrike"/>
          </a:p>
        </p:txBody>
      </p:sp>
      <p:sp>
        <p:nvSpPr>
          <p:cNvPr id="584" name="Google Shape;584;p24"/>
          <p:cNvSpPr/>
          <p:nvPr/>
        </p:nvSpPr>
        <p:spPr>
          <a:xfrm>
            <a:off x="8019800" y="4865725"/>
            <a:ext cx="1077000" cy="2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matic SC"/>
                <a:ea typeface="Amatic SC"/>
                <a:cs typeface="Amatic SC"/>
                <a:sym typeface="Amatic SC"/>
              </a:rPr>
              <a:t>TechInterview</a:t>
            </a:r>
            <a:endParaRPr sz="1100"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