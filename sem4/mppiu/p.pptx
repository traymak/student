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Raleway"/>
      <p:regular r:id="rId71"/>
      <p:bold r:id="rId72"/>
      <p:italic r:id="rId73"/>
      <p:boldItalic r:id="rId74"/>
    </p:embeddedFont>
    <p:embeddedFont>
      <p:font typeface="Roboto Mono SemiBold"/>
      <p:regular r:id="rId75"/>
      <p:bold r:id="rId76"/>
      <p:italic r:id="rId77"/>
      <p:boldItalic r:id="rId78"/>
    </p:embeddedFont>
    <p:embeddedFont>
      <p:font typeface="Roboto Mono Medium"/>
      <p:regular r:id="rId79"/>
      <p:bold r:id="rId80"/>
      <p:italic r:id="rId81"/>
      <p:boldItalic r:id="rId82"/>
    </p:embeddedFont>
    <p:embeddedFont>
      <p:font typeface="VT323"/>
      <p:regular r:id="rId83"/>
    </p:embeddedFont>
    <p:embeddedFont>
      <p:font typeface="Press Start 2P"/>
      <p:regular r:id="rId84"/>
    </p:embeddedFont>
    <p:embeddedFont>
      <p:font typeface="Playfair Display SC"/>
      <p:regular r:id="rId85"/>
      <p:bold r:id="rId86"/>
      <p:italic r:id="rId87"/>
      <p:boldItalic r:id="rId88"/>
    </p:embeddedFont>
    <p:embeddedFont>
      <p:font typeface="Roboto Mono"/>
      <p:regular r:id="rId89"/>
      <p:bold r:id="rId90"/>
      <p:italic r:id="rId91"/>
      <p:boldItalic r:id="rId9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7332AF-00D9-4153-B179-937170CDA02A}">
  <a:tblStyle styleId="{CF7332AF-00D9-4153-B179-937170CDA0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PressStart2P-regular.fntdata"/><Relationship Id="rId83" Type="http://schemas.openxmlformats.org/officeDocument/2006/relationships/font" Target="fonts/VT323-regular.fntdata"/><Relationship Id="rId42" Type="http://schemas.openxmlformats.org/officeDocument/2006/relationships/slide" Target="slides/slide37.xml"/><Relationship Id="rId86" Type="http://schemas.openxmlformats.org/officeDocument/2006/relationships/font" Target="fonts/PlayfairDisplaySC-bold.fntdata"/><Relationship Id="rId41" Type="http://schemas.openxmlformats.org/officeDocument/2006/relationships/slide" Target="slides/slide36.xml"/><Relationship Id="rId85" Type="http://schemas.openxmlformats.org/officeDocument/2006/relationships/font" Target="fonts/PlayfairDisplaySC-regular.fntdata"/><Relationship Id="rId44" Type="http://schemas.openxmlformats.org/officeDocument/2006/relationships/slide" Target="slides/slide39.xml"/><Relationship Id="rId88" Type="http://schemas.openxmlformats.org/officeDocument/2006/relationships/font" Target="fonts/PlayfairDisplaySC-boldItalic.fntdata"/><Relationship Id="rId43" Type="http://schemas.openxmlformats.org/officeDocument/2006/relationships/slide" Target="slides/slide38.xml"/><Relationship Id="rId87" Type="http://schemas.openxmlformats.org/officeDocument/2006/relationships/font" Target="fonts/PlayfairDisplaySC-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Mono-regular.fntdata"/><Relationship Id="rId80" Type="http://schemas.openxmlformats.org/officeDocument/2006/relationships/font" Target="fonts/RobotoMonoMedium-bold.fntdata"/><Relationship Id="rId82" Type="http://schemas.openxmlformats.org/officeDocument/2006/relationships/font" Target="fonts/RobotoMonoMedium-boldItalic.fntdata"/><Relationship Id="rId81" Type="http://schemas.openxmlformats.org/officeDocument/2006/relationships/font" Target="fonts/RobotoMono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aleway-italic.fntdata"/><Relationship Id="rId72" Type="http://schemas.openxmlformats.org/officeDocument/2006/relationships/font" Target="fonts/Raleway-bold.fntdata"/><Relationship Id="rId31" Type="http://schemas.openxmlformats.org/officeDocument/2006/relationships/slide" Target="slides/slide26.xml"/><Relationship Id="rId75" Type="http://schemas.openxmlformats.org/officeDocument/2006/relationships/font" Target="fonts/RobotoMonoSemiBold-regular.fntdata"/><Relationship Id="rId30" Type="http://schemas.openxmlformats.org/officeDocument/2006/relationships/slide" Target="slides/slide25.xml"/><Relationship Id="rId74" Type="http://schemas.openxmlformats.org/officeDocument/2006/relationships/font" Target="fonts/Raleway-boldItalic.fntdata"/><Relationship Id="rId33" Type="http://schemas.openxmlformats.org/officeDocument/2006/relationships/slide" Target="slides/slide28.xml"/><Relationship Id="rId77" Type="http://schemas.openxmlformats.org/officeDocument/2006/relationships/font" Target="fonts/RobotoMonoSemiBold-italic.fntdata"/><Relationship Id="rId32" Type="http://schemas.openxmlformats.org/officeDocument/2006/relationships/slide" Target="slides/slide27.xml"/><Relationship Id="rId76" Type="http://schemas.openxmlformats.org/officeDocument/2006/relationships/font" Target="fonts/RobotoMonoSemiBold-bold.fntdata"/><Relationship Id="rId35" Type="http://schemas.openxmlformats.org/officeDocument/2006/relationships/slide" Target="slides/slide30.xml"/><Relationship Id="rId79" Type="http://schemas.openxmlformats.org/officeDocument/2006/relationships/font" Target="fonts/RobotoMonoMedium-regular.fntdata"/><Relationship Id="rId34" Type="http://schemas.openxmlformats.org/officeDocument/2006/relationships/slide" Target="slides/slide29.xml"/><Relationship Id="rId78" Type="http://schemas.openxmlformats.org/officeDocument/2006/relationships/font" Target="fonts/RobotoMonoSemiBold-boldItalic.fntdata"/><Relationship Id="rId71" Type="http://schemas.openxmlformats.org/officeDocument/2006/relationships/font" Target="fonts/Raleway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obotoMono-italic.fntdata"/><Relationship Id="rId90" Type="http://schemas.openxmlformats.org/officeDocument/2006/relationships/font" Target="fonts/RobotoMono-bold.fntdata"/><Relationship Id="rId92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1d838b627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1d838b627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3c6a7973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3c6a7973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e1d838b627_4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e1d838b627_4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3c6a79738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3c6a79738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3c6a79738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3c6a79738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3c6a79738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3c6a79738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3cca41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3cca41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3ce3e23f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3ce3e23f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3ce3e23f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3ce3e23f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3ce3e23f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3ce3e23f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3ce3e23f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3ce3e23f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3ce3e23f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3ce3e23f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3ce3e23f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3ce3e23f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3ce3e23f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3ce3e23f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3ce3e23f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3ce3e23f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3ce3e23f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3ce3e23f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3ce3e23f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3ce3e23f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61d7d2ac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61d7d2ac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61d7d2ac8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d61d7d2ac8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61d7d2ac8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d61d7d2ac8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61d7d2ac8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61d7d2ac8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61d7d2ac8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61d7d2ac8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61d7d2ac8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61d7d2ac8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9731a224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9731a22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9731a224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9731a224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61d7d2ac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61d7d2ac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a8aba71d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a8aba71d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abb4f53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dabb4f53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a8aba71d4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a8aba71d4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b792deb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b792deb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b792deb7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b792deb7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8b792deb7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8b792deb7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8b792deb7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8b792deb7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b792deb7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8b792deb7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8b792deb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8b792deb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8b792deb7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8b792deb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b792deb7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8b792deb7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b792deb7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8b792deb7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8b792deb7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8b792deb7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8b792deb7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8b792deb7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b792deb7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8b792deb7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8b792deb7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8b792deb7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8b792deb7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8b792deb7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b792deb7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8b792deb7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16d1d16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e16d1d16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16d1d16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e16d1d16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16d1d165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e16d1d16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e16d1d165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e16d1d165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16d1d165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e16d1d165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16d1d165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e16d1d165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16d1d165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16d1d165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16d1d165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e16d1d165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16d1d165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e16d1d165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16d1d165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e16d1d165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16d1d165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e16d1d165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e16d1d165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e16d1d165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e16d1d165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e16d1d165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e16d1d165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e16d1d165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e16d1d165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e16d1d165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3de0e5b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d3de0e5b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b="0" l="61983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5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hasCustomPrompt="1"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/>
          <p:nvPr>
            <p:ph hasCustomPrompt="1"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/>
          <p:nvPr>
            <p:ph hasCustomPrompt="1"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hasCustomPrompt="1"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/>
          <p:nvPr>
            <p:ph hasCustomPrompt="1"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/>
          <p:nvPr>
            <p:ph hasCustomPrompt="1"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/>
          <p:nvPr>
            <p:ph hasCustomPrompt="1"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/>
          <p:nvPr>
            <p:ph hasCustomPrompt="1"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/>
          <p:nvPr>
            <p:ph hasCustomPrompt="1"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/>
          <p:nvPr>
            <p:ph hasCustomPrompt="1"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hasCustomPrompt="1"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b="47107" l="19763" r="19447" t="14676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0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 title="nature-landscape-with-vegetation-flor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1658" r="9487" t="9674"/>
          <a:stretch/>
        </p:blipFill>
        <p:spPr>
          <a:xfrm>
            <a:off x="5805375" y="1317075"/>
            <a:ext cx="2831677" cy="2648200"/>
          </a:xfrm>
          <a:prstGeom prst="rect">
            <a:avLst/>
          </a:prstGeom>
        </p:spPr>
      </p:pic>
      <p:sp>
        <p:nvSpPr>
          <p:cNvPr id="169" name="Google Shape;169;p24"/>
          <p:cNvSpPr txBox="1"/>
          <p:nvPr>
            <p:ph type="ctrTitle"/>
          </p:nvPr>
        </p:nvSpPr>
        <p:spPr>
          <a:xfrm>
            <a:off x="583300" y="2170325"/>
            <a:ext cx="4304400" cy="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ress Start 2P"/>
                <a:ea typeface="Press Start 2P"/>
                <a:cs typeface="Press Start 2P"/>
                <a:sym typeface="Press Start 2P"/>
              </a:rPr>
              <a:t>”TechInterview”</a:t>
            </a:r>
            <a:endParaRPr b="1"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0" name="Google Shape;170;p24"/>
          <p:cNvSpPr txBox="1"/>
          <p:nvPr>
            <p:ph idx="1" type="subTitle"/>
          </p:nvPr>
        </p:nvSpPr>
        <p:spPr>
          <a:xfrm>
            <a:off x="559750" y="2531975"/>
            <a:ext cx="43515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Интеллектуальный помощник по подготовке к техническим собеседованиям</a:t>
            </a:r>
            <a:r>
              <a:rPr lang="en" sz="1500"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4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35974" y="240600"/>
            <a:ext cx="5369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Гр. 421702: Дождиков, Перерва, Сечейко.</a:t>
            </a:r>
            <a:r>
              <a:rPr lang="en" sz="1300">
                <a:solidFill>
                  <a:schemeClr val="dk1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 </a:t>
            </a:r>
            <a:endParaRPr sz="1300">
              <a:solidFill>
                <a:schemeClr val="dk1"/>
              </a:solidFill>
              <a:latin typeface="Playfair Display SC"/>
              <a:ea typeface="Playfair Display SC"/>
              <a:cs typeface="Playfair Display SC"/>
              <a:sym typeface="Playfair Display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Содержание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1107238" y="1897000"/>
            <a:ext cx="2799900" cy="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1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8" name="Google Shape;178;p25"/>
          <p:cNvSpPr txBox="1"/>
          <p:nvPr>
            <p:ph idx="2" type="subTitle"/>
          </p:nvPr>
        </p:nvSpPr>
        <p:spPr>
          <a:xfrm>
            <a:off x="1107250" y="2551103"/>
            <a:ext cx="2799900" cy="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2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9" name="Google Shape;179;p25"/>
          <p:cNvSpPr txBox="1"/>
          <p:nvPr>
            <p:ph idx="3" type="subTitle"/>
          </p:nvPr>
        </p:nvSpPr>
        <p:spPr>
          <a:xfrm>
            <a:off x="1107250" y="3182638"/>
            <a:ext cx="27999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3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0" name="Google Shape;180;p25"/>
          <p:cNvSpPr txBox="1"/>
          <p:nvPr>
            <p:ph idx="4" type="subTitle"/>
          </p:nvPr>
        </p:nvSpPr>
        <p:spPr>
          <a:xfrm>
            <a:off x="1146525" y="3794675"/>
            <a:ext cx="27999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4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1" name="Google Shape;181;p25"/>
          <p:cNvSpPr txBox="1"/>
          <p:nvPr>
            <p:ph idx="5" type="subTitle"/>
          </p:nvPr>
        </p:nvSpPr>
        <p:spPr>
          <a:xfrm>
            <a:off x="4851575" y="1889600"/>
            <a:ext cx="27999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5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2" name="Google Shape;182;p25"/>
          <p:cNvSpPr txBox="1"/>
          <p:nvPr>
            <p:ph idx="6" type="subTitle"/>
          </p:nvPr>
        </p:nvSpPr>
        <p:spPr>
          <a:xfrm>
            <a:off x="4851575" y="2547303"/>
            <a:ext cx="27999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6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3" name="Google Shape;183;p25"/>
          <p:cNvSpPr txBox="1"/>
          <p:nvPr>
            <p:ph idx="7" type="subTitle"/>
          </p:nvPr>
        </p:nvSpPr>
        <p:spPr>
          <a:xfrm>
            <a:off x="4851575" y="3177792"/>
            <a:ext cx="27999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7 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	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4" name="Google Shape;184;p25"/>
          <p:cNvSpPr txBox="1"/>
          <p:nvPr>
            <p:ph idx="8" type="subTitle"/>
          </p:nvPr>
        </p:nvSpPr>
        <p:spPr>
          <a:xfrm>
            <a:off x="4851575" y="3794525"/>
            <a:ext cx="27999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ПЗ 8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5" name="Google Shape;185;p25"/>
          <p:cNvSpPr txBox="1"/>
          <p:nvPr>
            <p:ph idx="9" type="title"/>
          </p:nvPr>
        </p:nvSpPr>
        <p:spPr>
          <a:xfrm>
            <a:off x="341850" y="3829925"/>
            <a:ext cx="765300" cy="3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04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6" name="Google Shape;186;p25"/>
          <p:cNvSpPr txBox="1"/>
          <p:nvPr>
            <p:ph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02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7" name="Google Shape;187;p25"/>
          <p:cNvSpPr txBox="1"/>
          <p:nvPr>
            <p:ph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8" name="Google Shape;188;p25"/>
          <p:cNvSpPr txBox="1"/>
          <p:nvPr>
            <p:ph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03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9" name="Google Shape;189;p25"/>
          <p:cNvSpPr txBox="1"/>
          <p:nvPr>
            <p:ph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06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0" name="Google Shape;190;p25"/>
          <p:cNvSpPr txBox="1"/>
          <p:nvPr>
            <p:ph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07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1" name="Google Shape;191;p25"/>
          <p:cNvSpPr txBox="1"/>
          <p:nvPr>
            <p:ph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08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2" name="Google Shape;192;p25"/>
          <p:cNvSpPr txBox="1"/>
          <p:nvPr>
            <p:ph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ess Start 2P"/>
                <a:ea typeface="Press Start 2P"/>
                <a:cs typeface="Press Start 2P"/>
                <a:sym typeface="Press Start 2P"/>
              </a:rPr>
              <a:t>05</a:t>
            </a:r>
            <a:endParaRPr b="1"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6" title="beautiful-sea-life-with-aquatic-animal (1)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0934" r="20934" t="0"/>
          <a:stretch/>
        </p:blipFill>
        <p:spPr>
          <a:xfrm flipH="1">
            <a:off x="6386650" y="947025"/>
            <a:ext cx="2107500" cy="2067599"/>
          </a:xfrm>
          <a:prstGeom prst="rect">
            <a:avLst/>
          </a:prstGeom>
        </p:spPr>
      </p:pic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1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9" name="Google Shape;199;p26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	</a:t>
            </a:r>
            <a:endParaRPr sz="20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127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Концепция программного продукта</a:t>
            </a:r>
            <a:endParaRPr sz="20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0" name="Google Shape;200;p26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202" name="Google Shape;202;p26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6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7" title="fluffy-clouds-windy-sky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604" r="20610" t="0"/>
          <a:stretch/>
        </p:blipFill>
        <p:spPr>
          <a:xfrm>
            <a:off x="522525" y="1195150"/>
            <a:ext cx="2947200" cy="3566673"/>
          </a:xfrm>
          <a:prstGeom prst="rect">
            <a:avLst/>
          </a:prstGeom>
        </p:spPr>
      </p:pic>
      <p:sp>
        <p:nvSpPr>
          <p:cNvPr id="209" name="Google Shape;209;p27"/>
          <p:cNvSpPr txBox="1"/>
          <p:nvPr>
            <p:ph type="title"/>
          </p:nvPr>
        </p:nvSpPr>
        <p:spPr>
          <a:xfrm>
            <a:off x="3789425" y="947025"/>
            <a:ext cx="45477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Краткое описание функционала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3789425" y="1414959"/>
            <a:ext cx="494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" sz="1200"/>
              <a:t>TechInterview — интеллектуальная платформа для подготовки к техническим собеседованиям в IT, объединяющая базу знаний, адаптивный тренажёр и персонального ассистента.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 sz="1200"/>
              <a:t>Ключевые функции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Диагностика текущего уровня знаний кандидата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Генерация адаптивных вопросов и задач (алгоритмы, system design, behavioral)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Персонализация под роль (Junior/Middle/Senior), стек технологий и целевую компанию(по возможности)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Построение индивидуальных траекторий подготовки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Тренировка коммуникации: «thinking out loud», работа с уточняющими вопросами</a:t>
            </a:r>
            <a:endParaRPr sz="1200"/>
          </a:p>
        </p:txBody>
      </p:sp>
      <p:grpSp>
        <p:nvGrpSpPr>
          <p:cNvPr id="211" name="Google Shape;211;p27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12" name="Google Shape;212;p27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7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Целевая аудитория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19" name="Google Shape;219;p28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789425"/>
                <a:gridCol w="2789425"/>
                <a:gridCol w="2789425"/>
              </a:tblGrid>
              <a:tr h="36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Сегмент</a:t>
                      </a:r>
                      <a:r>
                        <a:rPr lang="en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 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Портрет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Потребности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Junior-кандидаты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Студенты, выпускники курсов, 1–2 года опыта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Структурированная база знаний, пошаговые гайды, простые объяснения, практика с обратной связью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Middle-кандидаты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Разработчики 2–5 лет опыта, смена компании/стека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Углублённые материалы по system design, разбор сложных задач, подготовка к FAANG-уровню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Senior-кандидаты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Опытные инженеры, целевые компании топ-уровня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Архитектурные кейсы, trade-offs, переговоры по офферу, специфика компаний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Переквалифицирующиеся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Профессионалы из смежных областей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Быстрый вход в IT, фундаментальные концепции, адаптация резюме и самопрезентации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Менторы/интервьюеры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Технические лиды, HR-tech специалисты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Банк вопросов, критерии оценки, методики проведения интервью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idx="6" type="title"/>
          </p:nvPr>
        </p:nvSpPr>
        <p:spPr>
          <a:xfrm>
            <a:off x="363900" y="880250"/>
            <a:ext cx="8249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Удовлетворяемые потребности</a:t>
            </a:r>
            <a:endParaRPr b="1"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31891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Н</a:t>
            </a:r>
            <a:r>
              <a:rPr b="1" lang="en"/>
              <a:t>авыки коммуникации.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Даже зная решение, кандидат может провалить собеседование из-за неумения излагать мысли. Платформа предлагает симуляции интервью с фидбеком по структуре ответа, что помогает тренироваться «рассуждать вслух» и снижает стресс на реальном собеседовании.</a:t>
            </a:r>
            <a:endParaRPr/>
          </a:p>
        </p:txBody>
      </p:sp>
      <p:sp>
        <p:nvSpPr>
          <p:cNvPr id="226" name="Google Shape;226;p29"/>
          <p:cNvSpPr txBox="1"/>
          <p:nvPr>
            <p:ph idx="2" type="subTitle"/>
          </p:nvPr>
        </p:nvSpPr>
        <p:spPr>
          <a:xfrm>
            <a:off x="3859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</a:t>
            </a:r>
            <a:r>
              <a:rPr b="1" lang="en"/>
              <a:t>труктурирование подготовки.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Кандидаты теряются в объёме информации и не знают, с чего начать. TechInterview решает это через входную диагностику и персонализированный план обучения, который фокусирует пользователя на релевантных темах и экономит время на поиск материалов.</a:t>
            </a:r>
            <a:endParaRPr/>
          </a:p>
        </p:txBody>
      </p:sp>
      <p:sp>
        <p:nvSpPr>
          <p:cNvPr id="227" name="Google Shape;227;p29"/>
          <p:cNvSpPr txBox="1"/>
          <p:nvPr>
            <p:ph idx="3" type="subTitle"/>
          </p:nvPr>
        </p:nvSpPr>
        <p:spPr>
          <a:xfrm>
            <a:off x="59923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П</a:t>
            </a:r>
            <a:r>
              <a:rPr b="1" lang="en"/>
              <a:t>одготовка под конкретную цель.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Требования в разных компаниях отличаются, а универсальные курсы дают знания «в среднем». TechInterview позволяет настроить траекторию под целевую роль и компанию, адаптируя контент под их специфику, чтобы кандидат готовился именно к тем задачам, которые встретятся на интервью.</a:t>
            </a:r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3188532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9" name="Google Shape;229;p29"/>
          <p:cNvSpPr txBox="1"/>
          <p:nvPr>
            <p:ph idx="4" type="title"/>
          </p:nvPr>
        </p:nvSpPr>
        <p:spPr>
          <a:xfrm>
            <a:off x="385954" y="12576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5992395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Конкуренты и аналоги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36" name="Google Shape;236;p30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73650"/>
                <a:gridCol w="1638350"/>
                <a:gridCol w="1356025"/>
                <a:gridCol w="1673675"/>
                <a:gridCol w="2026550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Продукт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Функции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Стоимость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Плюсы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Минусы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LeetCode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3000+ задач, контесты, обсуждения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$0–35/мес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Огромная база, активное комьюнити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Нет персонализации, слабый акцент на объяснения и soft skills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Pramp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Mock-интервью с пиринговой практикой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$0–49/мес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Реальная практика общения, обратная связь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Ограниченный контент, зависимость от партнёра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Interviewing.io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Анонимные интервью с инженерами топ-компаний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$0 + плата за сессии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Реальные интервьюеры, фидбек от практиков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Высокая цена, нет структурированной базы знаний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Exponent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Курсы по system design, behavioral, продуктовым интервью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$49–199/курс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Качественный контент, разбор кейсов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Фрагментированность, нет адаптивной подготовки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</a:t>
            </a:r>
            <a:r>
              <a:rPr lang="en"/>
              <a:t>т «что это» до «почему так работает»</a:t>
            </a:r>
            <a:endParaRPr/>
          </a:p>
        </p:txBody>
      </p:sp>
      <p:sp>
        <p:nvSpPr>
          <p:cNvPr id="242" name="Google Shape;242;p31"/>
          <p:cNvSpPr txBox="1"/>
          <p:nvPr>
            <p:ph type="title"/>
          </p:nvPr>
        </p:nvSpPr>
        <p:spPr>
          <a:xfrm>
            <a:off x="341850" y="654800"/>
            <a:ext cx="8110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Конкурентные преимущества TechInterview</a:t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3" name="Google Shape;243;p31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</a:t>
            </a:r>
            <a:r>
              <a:rPr lang="en"/>
              <a:t>даптация под роль, стек, компанию и уровень</a:t>
            </a:r>
            <a:endParaRPr/>
          </a:p>
        </p:txBody>
      </p:sp>
      <p:sp>
        <p:nvSpPr>
          <p:cNvPr id="244" name="Google Shape;244;p31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+ Architecture + Soft Skills в единой экосистеме</a:t>
            </a:r>
            <a:endParaRPr/>
          </a:p>
        </p:txBody>
      </p:sp>
      <p:sp>
        <p:nvSpPr>
          <p:cNvPr id="245" name="Google Shape;245;p31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</a:t>
            </a:r>
            <a:r>
              <a:rPr lang="en"/>
              <a:t>ренировка «thinking out loud», работа с подсказками</a:t>
            </a:r>
            <a:endParaRPr/>
          </a:p>
        </p:txBody>
      </p:sp>
      <p:sp>
        <p:nvSpPr>
          <p:cNvPr id="246" name="Google Shape;246;p31"/>
          <p:cNvSpPr txBox="1"/>
          <p:nvPr>
            <p:ph idx="5" type="subTitle"/>
          </p:nvPr>
        </p:nvSpPr>
        <p:spPr>
          <a:xfrm>
            <a:off x="6120825" y="1987926"/>
            <a:ext cx="2579400" cy="6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</a:t>
            </a:r>
            <a:r>
              <a:rPr lang="en"/>
              <a:t>ыявление пробелов и автоматическая коррекция траектории</a:t>
            </a:r>
            <a:endParaRPr/>
          </a:p>
        </p:txBody>
      </p:sp>
      <p:sp>
        <p:nvSpPr>
          <p:cNvPr id="247" name="Google Shape;247;p31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</a:t>
            </a:r>
            <a:r>
              <a:rPr lang="en"/>
              <a:t>нструменты для проведения интервью и оценки</a:t>
            </a:r>
            <a:endParaRPr/>
          </a:p>
        </p:txBody>
      </p:sp>
      <p:sp>
        <p:nvSpPr>
          <p:cNvPr id="248" name="Google Shape;248;p31"/>
          <p:cNvSpPr txBox="1"/>
          <p:nvPr>
            <p:ph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Поддержка менторов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9" name="Google Shape;249;p31"/>
          <p:cNvSpPr txBox="1"/>
          <p:nvPr>
            <p:ph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Интеллектуальная диагностика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0" name="Google Shape;250;p31"/>
          <p:cNvSpPr txBox="1"/>
          <p:nvPr>
            <p:ph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Триединая структура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1" name="Google Shape;251;p31"/>
          <p:cNvSpPr txBox="1"/>
          <p:nvPr>
            <p:ph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Фокус на коммуникации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2" name="Google Shape;252;p31"/>
          <p:cNvSpPr txBox="1"/>
          <p:nvPr>
            <p:ph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Глубокая персонализация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3" name="Google Shape;253;p31"/>
          <p:cNvSpPr txBox="1"/>
          <p:nvPr>
            <p:ph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Объяснения с регулируемой глубиной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Модель Lean Canvas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59" name="Google Shape;259;p32"/>
          <p:cNvGraphicFramePr/>
          <p:nvPr/>
        </p:nvGraphicFramePr>
        <p:xfrm>
          <a:off x="326863" y="127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413100"/>
                <a:gridCol w="7077150"/>
              </a:tblGrid>
              <a:tr h="43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Блок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Содержание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48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Problem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Кандидаты теряются в объёме информации, не умеют коммуницировать решения, не понимают специфику компаний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Customer Segments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Junior/Middle/Senior разработчики, карьерные переходники, менторы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Unique Value Proposition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«Персонализированный путь от пробела в знаниях до оффера в целевой компании»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Solution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Адаптивная база знаний + диагностика + генерация контента + тренировка коммуникации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9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Channels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Веб-платформа, Telegram-бот, интеграции с LinkedIn/GitHub, партнёрства с курсами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Модель Lean Canvas(продолжение)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65" name="Google Shape;265;p33"/>
          <p:cNvGraphicFramePr/>
          <p:nvPr/>
        </p:nvGraphicFramePr>
        <p:xfrm>
          <a:off x="326863" y="127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413100"/>
                <a:gridCol w="7077150"/>
              </a:tblGrid>
              <a:tr h="43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Блок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Содержание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48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Revenue Streams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Подписка (Freemium), корпоративные лицензии, платные консультации с экспертами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8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Cost Structure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Кандидаты теряются в объёме информации, не умеют коммуницировать решения, не понимают специфику компаний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7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Key Metrics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Конверсия в подписку, % завершения траекторий, средний балл после подготовки, NPS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8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Unfair Advantage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Глубокая онтология предметной области, адаптивный движок, экспертиза в методике интервью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4" title="природапз2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5963" r="15963" t="0"/>
          <a:stretch/>
        </p:blipFill>
        <p:spPr>
          <a:xfrm flipH="1">
            <a:off x="6386649" y="947025"/>
            <a:ext cx="2107501" cy="2067598"/>
          </a:xfrm>
          <a:prstGeom prst="rect">
            <a:avLst/>
          </a:prstGeom>
        </p:spPr>
      </p:pic>
      <p:sp>
        <p:nvSpPr>
          <p:cNvPr id="271" name="Google Shape;271;p34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2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2" name="Google Shape;272;p34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	</a:t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127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Различные подходы к классификации бизнес-моделей</a:t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73" name="Google Shape;273;p34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02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274" name="Google Shape;274;p34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275" name="Google Shape;275;p34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34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5" title="осень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454" r="22459" t="0"/>
          <a:stretch/>
        </p:blipFill>
        <p:spPr>
          <a:xfrm>
            <a:off x="522525" y="1195150"/>
            <a:ext cx="2947199" cy="3566674"/>
          </a:xfrm>
          <a:prstGeom prst="rect">
            <a:avLst/>
          </a:prstGeom>
        </p:spPr>
      </p:pic>
      <p:sp>
        <p:nvSpPr>
          <p:cNvPr id="282" name="Google Shape;282;p35"/>
          <p:cNvSpPr txBox="1"/>
          <p:nvPr>
            <p:ph type="title"/>
          </p:nvPr>
        </p:nvSpPr>
        <p:spPr>
          <a:xfrm>
            <a:off x="3789425" y="947025"/>
            <a:ext cx="4940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Подходы к классификации бизнес-моделей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3789425" y="1420425"/>
            <a:ext cx="494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Подходы к классификации бизнес-моделей — это методы систематизации способов создания ценности и получения прибыли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 sz="1200"/>
              <a:t>Основные подходы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По способу монетизации (Osterwalder): подписка, лицензия, freemium, transaction fee, advertising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По типу ценности (B2B/B2C/B2B2C): корпоративные решения, массовый потребитель, платформы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По каналу дистрибуции: direct sales, marketplace, SaaS, on-premise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По степени кастомизации: продукт, платформа, сервис, консалтинг</a:t>
            </a:r>
            <a:endParaRPr sz="1200"/>
          </a:p>
        </p:txBody>
      </p:sp>
      <p:grpSp>
        <p:nvGrpSpPr>
          <p:cNvPr id="284" name="Google Shape;284;p35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85" name="Google Shape;285;p35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5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387875" y="794675"/>
            <a:ext cx="83682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ess Start 2P"/>
                <a:ea typeface="Press Start 2P"/>
                <a:cs typeface="Press Start 2P"/>
                <a:sym typeface="Press Start 2P"/>
              </a:rPr>
              <a:t>Примеры белорусских ИТ-компаний по бизнес-моделям</a:t>
            </a:r>
            <a:endParaRPr sz="13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92" name="Google Shape;292;p36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73650"/>
                <a:gridCol w="1417800"/>
                <a:gridCol w="1567750"/>
                <a:gridCol w="1373725"/>
                <a:gridCol w="2335325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Компания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Продукт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Бизнес-модель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Сегмент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Ключевая ценность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30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EPAM Systems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Разработка ПО на заказ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B2B, Time&amp;Material / Fixed Price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Enterprise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Глобальная экспертиза, масштаб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Wargaming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Игры (World of Tanks)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B2C, Freemium + In-App Purchases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Геймеры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Качественный геймплей, комьюнити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6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Viber (Rakuten)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Мессенджер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B2C, Advertising + B2B API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Массовый пользователь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Бесплатная коммуникация, бизнес-инструменты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8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Flo Health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Приложение для женского здоровья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B2C, Freemium + Подписка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Женщины 18–45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Персонализированные инсайты, приватность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3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MSQRD (приобретён Meta)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AR-фильтры для видео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B2C, Acquisition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Соцсети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Инновационные технологии компьютерного зрения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387875" y="794675"/>
            <a:ext cx="83682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ess Start 2P"/>
                <a:ea typeface="Press Start 2P"/>
                <a:cs typeface="Press Start 2P"/>
                <a:sym typeface="Press Start 2P"/>
              </a:rPr>
              <a:t>Примеры белорусских ИТ-компаний по бизнес-моделям</a:t>
            </a:r>
            <a:endParaRPr sz="13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298" name="Google Shape;298;p37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73650"/>
                <a:gridCol w="1417800"/>
                <a:gridCol w="1567750"/>
                <a:gridCol w="1373725"/>
                <a:gridCol w="2335325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Компания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Продукт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Бизнес-модель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Сегмент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Ключевая ценность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30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AimBrain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Биометрическая аутентификация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B2B, SaaS + Лицензия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Финтех, банки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Повышение безопасности без ущерба UX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ScienceSoft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IT-консалтинг и разработка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B2B, Project-based + Retainer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Средний/крупный бизнес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Надёжность, полная поддержка жизненного цикла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6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Ittery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Low-code платформа для автоматизации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B2B, SaaS + Подписка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Малый/средний бизнес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Быстрое внедрение без разработчиков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8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Gurtam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Платформа телематики Wialon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B2B, SaaS + Лицензия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Логистика, транспорт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Масштабируемость, интеграции, аналитика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3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Kandinsky (ex-Maps.me)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Офлайн-карты и навигация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B2C, Freemium + B2B API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Путешественники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Работа без интернета, детализация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idx="6" type="title"/>
          </p:nvPr>
        </p:nvSpPr>
        <p:spPr>
          <a:xfrm>
            <a:off x="363900" y="880250"/>
            <a:ext cx="8249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Сравнительный анализ</a:t>
            </a:r>
            <a:endParaRPr b="1"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891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Тренды: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Переход от аутсорса к продуктам (productization)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Рост подписочных моделей (recurring revenue)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Интеграция AI/ML как конкурентное преимущество</a:t>
            </a:r>
            <a:endParaRPr/>
          </a:p>
        </p:txBody>
      </p:sp>
      <p:sp>
        <p:nvSpPr>
          <p:cNvPr id="305" name="Google Shape;305;p38"/>
          <p:cNvSpPr txBox="1"/>
          <p:nvPr>
            <p:ph idx="2" type="subTitle"/>
          </p:nvPr>
        </p:nvSpPr>
        <p:spPr>
          <a:xfrm>
            <a:off x="3859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Доминирующие модели в Беларуси: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B2B SaaS / Project-based (EPAM, ScienceSoft, Gurtam) — стабильный cash flow, долгосрочные контракты.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B2C Freemium (Flo, Wargaming, Playrix) — массовый охват, монетизация через вовлечение.</a:t>
            </a:r>
            <a:endParaRPr/>
          </a:p>
        </p:txBody>
      </p:sp>
      <p:sp>
        <p:nvSpPr>
          <p:cNvPr id="306" name="Google Shape;306;p38"/>
          <p:cNvSpPr txBox="1"/>
          <p:nvPr>
            <p:ph idx="3" type="subTitle"/>
          </p:nvPr>
        </p:nvSpPr>
        <p:spPr>
          <a:xfrm>
            <a:off x="59923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Риски: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Зависимость от глобальных рынков и регуляций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Конкуренция за таланты с международными компаниями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Необходимость постоянных инвестиций в R&amp;D</a:t>
            </a:r>
            <a:endParaRPr/>
          </a:p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3188532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8" name="Google Shape;308;p38"/>
          <p:cNvSpPr txBox="1"/>
          <p:nvPr>
            <p:ph idx="4" type="title"/>
          </p:nvPr>
        </p:nvSpPr>
        <p:spPr>
          <a:xfrm>
            <a:off x="385954" y="12576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9" name="Google Shape;309;p38"/>
          <p:cNvSpPr txBox="1"/>
          <p:nvPr>
            <p:ph idx="5" type="title"/>
          </p:nvPr>
        </p:nvSpPr>
        <p:spPr>
          <a:xfrm>
            <a:off x="5992395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9" title="морепальмы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4625" r="0" t="0"/>
          <a:stretch/>
        </p:blipFill>
        <p:spPr>
          <a:xfrm flipH="1">
            <a:off x="6386650" y="947025"/>
            <a:ext cx="2107500" cy="2067598"/>
          </a:xfrm>
          <a:prstGeom prst="rect">
            <a:avLst/>
          </a:prstGeom>
        </p:spPr>
      </p:pic>
      <p:sp>
        <p:nvSpPr>
          <p:cNvPr id="315" name="Google Shape;315;p39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3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16" name="Google Shape;316;p39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	</a:t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Модель монетизации “TechInterview”</a:t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17" name="Google Shape;317;p39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03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318" name="Google Shape;318;p39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319" name="Google Shape;319;p39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9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Целевые сегменты для монетизации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26" name="Google Shape;326;p40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789425"/>
                <a:gridCol w="2789425"/>
                <a:gridCol w="2789425"/>
              </a:tblGrid>
              <a:tr h="36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Сегмент</a:t>
                      </a:r>
                      <a:r>
                        <a:rPr lang="en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 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Приоритет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Потенциальный LTV</a:t>
                      </a:r>
                      <a:endParaRPr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Junior-кандидаты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Низкий (входной)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$30–100/год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Middle-кандидаты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$150–300/год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Senior-кандидаты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$300–600/год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Корпоративные клиенты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$2000–10000/год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Менторы/интервьюеры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$100–250/год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Анализ конкурентов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32" name="Google Shape;332;p41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73650"/>
                <a:gridCol w="1638350"/>
                <a:gridCol w="1356025"/>
                <a:gridCol w="1673675"/>
                <a:gridCol w="2026550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Продукт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Персонализация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Цена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Коммуникация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Позиция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38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LeetCode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Минимальная персонализация, универсальные задачи для всех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Низкая: $35/мес или $159/год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Отсутствует: нет тренировки общения и объяснения решений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Лидер по количеству задач, но узкая специализация на алгоритмах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36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Interviewing.io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Высокая: реальные интервьюеры подстраиваются под кандидата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Высокая: $100–225 за сессию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Отличная: живые интервью с инженерами топ-компаний и детальный фидбек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Премиум-инструмент для финальной шлифовки навыков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Exponent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Слабая персонализация, курсы разделены по темам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Средняя: $79/мес или $49–199 за курс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Средняя: есть разборы, но мало интерактивной практики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Сильный игрок в области системного дизайна, но нет единой траектории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3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Pramp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Средняя: peer-to-peer формат с взаимной оценкой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Бесплатно (базовый)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Хорошая: бесплатная практика общения с другими кандидатами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Доступный вариант для тренировки коммуникации, но зависит от партнёра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Сравнение с конкурентами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38" name="Google Shape;338;p42"/>
          <p:cNvGraphicFramePr/>
          <p:nvPr/>
        </p:nvGraphicFramePr>
        <p:xfrm>
          <a:off x="387863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73650"/>
                <a:gridCol w="1638350"/>
                <a:gridCol w="1356025"/>
                <a:gridCol w="1673675"/>
                <a:gridCol w="2026550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Продукт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Персонализация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Цена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Коммуникация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Позиция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38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TechInterview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Очень высокая: адаптация под роль, стек, компанию и уровень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Средняя: $19–49/мес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Очень высокая: симуляции с AI, тренировка «вслух», фидбек по структуре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Уникальное сочетание всех компонентов с глубокой персонализацией по доступной цене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39" name="Google Shape;339;p42"/>
          <p:cNvSpPr txBox="1"/>
          <p:nvPr/>
        </p:nvSpPr>
        <p:spPr>
          <a:xfrm>
            <a:off x="343800" y="2999650"/>
            <a:ext cx="8368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Вывод: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“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TechInterview” занимает позицию, объединяющую сильные стороны конкурентов: глубокая персонализация под роль и компанию, трёхкомпонентная структура контента (алгоритмы + дизайн + коммуникация) и адаптивная генерация задач. При цене $19–49/мес продукт предлагает премиум-качество по доступной подписке, закрывая пробелы, которые остаются у узкоспециализированных аналогов.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3" title="залупа1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620" r="6612" t="0"/>
          <a:stretch/>
        </p:blipFill>
        <p:spPr>
          <a:xfrm>
            <a:off x="522525" y="1195150"/>
            <a:ext cx="2947198" cy="3566675"/>
          </a:xfrm>
          <a:prstGeom prst="rect">
            <a:avLst/>
          </a:prstGeom>
        </p:spPr>
      </p:pic>
      <p:sp>
        <p:nvSpPr>
          <p:cNvPr id="345" name="Google Shape;345;p43"/>
          <p:cNvSpPr txBox="1"/>
          <p:nvPr>
            <p:ph type="title"/>
          </p:nvPr>
        </p:nvSpPr>
        <p:spPr>
          <a:xfrm>
            <a:off x="3789425" y="947025"/>
            <a:ext cx="4940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Карта позиционирования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3789425" y="1420425"/>
            <a:ext cx="494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Карта позиционирования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это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визуальный инструмент маркетинга, представляющий собой график, который показывает положение товаров или брендов в сознании потребителей относительно конкурентов.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На карте позиционирования с осями «Уровень персонализации» и «Цена» продукт TechInterview занимает стратегически выгодную позицию в квадранте «Высокая персонализация / Низкая цена».</a:t>
            </a:r>
            <a:endParaRPr sz="1200"/>
          </a:p>
        </p:txBody>
      </p:sp>
      <p:grpSp>
        <p:nvGrpSpPr>
          <p:cNvPr id="347" name="Google Shape;347;p43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348" name="Google Shape;348;p43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43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60128" r="0" t="0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387875" y="794675"/>
            <a:ext cx="78666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ess Start 2P"/>
                <a:ea typeface="Press Start 2P"/>
                <a:cs typeface="Press Start 2P"/>
                <a:sym typeface="Press Start 2P"/>
              </a:rPr>
              <a:t>Разновидности подписок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55" name="Google Shape;355;p44"/>
          <p:cNvGraphicFramePr/>
          <p:nvPr/>
        </p:nvGraphicFramePr>
        <p:xfrm>
          <a:off x="461550" y="116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169575"/>
                <a:gridCol w="2123825"/>
                <a:gridCol w="1757850"/>
                <a:gridCol w="2169625"/>
              </a:tblGrid>
              <a:tr h="44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Тариф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Функции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Стоимость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Целевой сегмент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Free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Базовые темы, 20 задач/нед, общие гайды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$0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Привлечение, Junior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Полный доступ, персонализация, диагностика, шпаргалки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$19/мес или $149/год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Middle, переквалифицирующиеся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Elite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 Симуляции интервью, фидбек от экспертов, специфика компаний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$49/мес или $399/год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Senior, FAANG-цели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Team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Управление командой, аналитика прогресса, корпоративные траектории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от $299/мес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Компании, буткемпы</a:t>
                      </a:r>
                      <a:endParaRPr sz="11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6" type="title"/>
          </p:nvPr>
        </p:nvSpPr>
        <p:spPr>
          <a:xfrm>
            <a:off x="363900" y="880250"/>
            <a:ext cx="8249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Обоснование справедливой цены</a:t>
            </a:r>
            <a:endParaRPr b="1"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61" name="Google Shape;361;p45"/>
          <p:cNvSpPr txBox="1"/>
          <p:nvPr>
            <p:ph idx="1" type="subTitle"/>
          </p:nvPr>
        </p:nvSpPr>
        <p:spPr>
          <a:xfrm>
            <a:off x="31891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Сравнение с альтернативами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</a:t>
            </a:r>
            <a:r>
              <a:rPr lang="en"/>
              <a:t>астный ментор: $50–150/час</a:t>
            </a:r>
            <a:r>
              <a:rPr lang="en"/>
              <a:t> → </a:t>
            </a:r>
            <a:r>
              <a:rPr lang="en"/>
              <a:t>$600–1800/курс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Онлайн-курс: $100–500 единоразово, но без адаптации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Самостоятельная подготовка: $0, но высокие временные и эмоциональные издержки</a:t>
            </a:r>
            <a:endParaRPr/>
          </a:p>
        </p:txBody>
      </p:sp>
      <p:sp>
        <p:nvSpPr>
          <p:cNvPr id="362" name="Google Shape;362;p45"/>
          <p:cNvSpPr txBox="1"/>
          <p:nvPr>
            <p:ph idx="2" type="subTitle"/>
          </p:nvPr>
        </p:nvSpPr>
        <p:spPr>
          <a:xfrm>
            <a:off x="3859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Драйверы ценности: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Экономия времени: 3–6 месяцев самостоятельной подготовки → 1–2 месяца с системой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Увеличение шанса на оффер: персонализация = выше релевантность подготовки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Снижение стресса: структурированность + психологическая поддержка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 txBox="1"/>
          <p:nvPr>
            <p:ph idx="3" type="subTitle"/>
          </p:nvPr>
        </p:nvSpPr>
        <p:spPr>
          <a:xfrm>
            <a:off x="5992350" y="167015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Вывод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Цена $19–49/мес воспринимается как справедливая,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так как окупается за счёт одного успешного оффера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(средний прирост зарплаты — $500–2000/мес).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Выбранная модель: Freemium + Tiered Subscription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5"/>
          <p:cNvSpPr txBox="1"/>
          <p:nvPr>
            <p:ph type="title"/>
          </p:nvPr>
        </p:nvSpPr>
        <p:spPr>
          <a:xfrm>
            <a:off x="3188532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5" name="Google Shape;365;p45"/>
          <p:cNvSpPr txBox="1"/>
          <p:nvPr>
            <p:ph idx="4" type="title"/>
          </p:nvPr>
        </p:nvSpPr>
        <p:spPr>
          <a:xfrm>
            <a:off x="385954" y="12576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6" name="Google Shape;366;p45"/>
          <p:cNvSpPr txBox="1"/>
          <p:nvPr>
            <p:ph idx="5" type="title"/>
          </p:nvPr>
        </p:nvSpPr>
        <p:spPr>
          <a:xfrm>
            <a:off x="5992395" y="12575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idx="2" type="title"/>
          </p:nvPr>
        </p:nvSpPr>
        <p:spPr>
          <a:xfrm>
            <a:off x="69562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04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72" name="Google Shape;372;p46"/>
          <p:cNvSpPr txBox="1"/>
          <p:nvPr>
            <p:ph type="title"/>
          </p:nvPr>
        </p:nvSpPr>
        <p:spPr>
          <a:xfrm>
            <a:off x="1567525" y="1566125"/>
            <a:ext cx="39669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Бизнес-требования к продукту “TechInterview” 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73" name="Google Shape;373;p46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4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374" name="Google Shape;374;p46" title="Biznes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1970" r="21970" t="0"/>
          <a:stretch/>
        </p:blipFill>
        <p:spPr>
          <a:xfrm>
            <a:off x="6386650" y="947025"/>
            <a:ext cx="2107500" cy="2067600"/>
          </a:xfrm>
          <a:prstGeom prst="rect">
            <a:avLst/>
          </a:prstGeom>
        </p:spPr>
      </p:pic>
      <p:grpSp>
        <p:nvGrpSpPr>
          <p:cNvPr id="375" name="Google Shape;375;p46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376" name="Google Shape;376;p46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46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type="title"/>
          </p:nvPr>
        </p:nvSpPr>
        <p:spPr>
          <a:xfrm>
            <a:off x="238125" y="849125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Бизнес-требования — основа 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83" name="Google Shape;383;p47"/>
          <p:cNvGraphicFramePr/>
          <p:nvPr/>
        </p:nvGraphicFramePr>
        <p:xfrm>
          <a:off x="238125" y="14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813250"/>
                <a:gridCol w="5854500"/>
              </a:tblGrid>
              <a:tr h="33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Параметр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Формулировка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Исходные данные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Рост EdTech; команда (NLP, Fullstack, HR); доступ к LLM API и датасетам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Бизнес-возможности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SaaS с низкими издержками; B2C-подписки + B2B-лицензии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Бизнес-цели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Год 1: 10 000 MAU, конверсия ≥15%, безубыточность — 10 мес. Год 2: 5 B2B-контрактов, расширение на рынки ЕС/США.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Потребности и цели пользователя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Структурирование подготовки, персонализация под стек/роль, тренировка коммуникации, снижение временных и эмоциональных издержек, повышение вероятности получения оффера.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Критерии успеха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LTV/CAC ≥3; retention D30 ≥25%; % завершения траекторий ≥60%; NPS &gt;50; среднее время сессии ≥18 мин.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Бизнес-риски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Волатильность LLM-цен; утечки данных; копирование фич; низкая готовность платить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Образ продукта (Vision)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AI-наставник: от пробела в знаниях → к офферу в целевой компании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341850" y="760625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Объём и границы продукта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89" name="Google Shape;389;p48"/>
          <p:cNvGraphicFramePr/>
          <p:nvPr/>
        </p:nvGraphicFramePr>
        <p:xfrm>
          <a:off x="341850" y="125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273050"/>
                <a:gridCol w="6187250"/>
              </a:tblGrid>
              <a:tr h="85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Ключевые функции 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Диагностика → адаптивные задачи → моки (текст/голос) → AI-фидбек → треки под компанию → дашборд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8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MVP (3–4 мес.)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Веб-платформа; алгоритмические задачи; текстовый AI-фидбек; тарифы Free/Pro; авторизация и оплата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8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v2.0 (6–7 мес.)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Telegram-бот; System Design и Behavioral; голосовые симуляции; треки под компании; Team-дашборд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6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Ограничения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❌ Живые менторы (только AI)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❌ Гарантия трудоустройства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❌ Нативные мобильные приложения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❌ Языки кроме EN/RU на старте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9"/>
          <p:cNvSpPr txBox="1"/>
          <p:nvPr>
            <p:ph type="title"/>
          </p:nvPr>
        </p:nvSpPr>
        <p:spPr>
          <a:xfrm>
            <a:off x="341875" y="77575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Бизнес-контекст и стейкхолдеры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395" name="Google Shape;395;p49"/>
          <p:cNvGraphicFramePr/>
          <p:nvPr/>
        </p:nvGraphicFramePr>
        <p:xfrm>
          <a:off x="341875" y="13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369525"/>
                <a:gridCol w="2864250"/>
                <a:gridCol w="3226525"/>
              </a:tblGrid>
              <a:tr h="36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Стейкхолдер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Профиль 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Ожидания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</a:tr>
              <a:tr h="61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B2C: Junior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Студенты, 0–2 года опыта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Быстрый вход, простые объяснения, практика с фидбеком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B2C: Middle/Senior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2+ года опыта, смена компании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Углублённые материалы, подготовка к FAANG, специфика компаний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B2B: Буткемпы/ВУЗы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Образовательные платформы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Готовый инструмент для студентов, white-label, аналитика прогресса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B2B: HR-tech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Рекрутеры, HR-отделы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Банк вопросов, критерии оценки, интеграция с ATS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Команда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Product, ML, Fullstack, UX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Чёткие требования, техническая реализуемость, метрики роста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type="title"/>
          </p:nvPr>
        </p:nvSpPr>
        <p:spPr>
          <a:xfrm>
            <a:off x="409900" y="77575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Детали поставки и технический контекст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401" name="Google Shape;401;p50"/>
          <p:cNvGraphicFramePr/>
          <p:nvPr/>
        </p:nvGraphicFramePr>
        <p:xfrm>
          <a:off x="409900" y="159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327950"/>
                <a:gridCol w="5996275"/>
              </a:tblGrid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Доступ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Веб-платформа (PWA), email/GitHub/LinkedIn, SSO для B2B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Инфраструктура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AWS/GCP, автоскейлинг, CDN, автоматическое бэкапирование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Стек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Backend: Python/FastAPI; Frontend: React; ML: LLM API + open-source; PostgreSQL + Redis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Интеграции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Stripe/ЮKassa, Mixpanel/Amplitude, Telegram Bot API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SLA и безопасность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Uptime 99.5%, шифрование, GDPR/152-ФЗ, пентесты, логирование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Справедливая цена и карта ценности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07" name="Google Shape;407;p51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05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08" name="Google Shape;408;p51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5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409" name="Google Shape;409;p51" title="ЦЕна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-1190" l="0" r="-2386" t="1190"/>
          <a:stretch/>
        </p:blipFill>
        <p:spPr>
          <a:xfrm>
            <a:off x="6386651" y="947025"/>
            <a:ext cx="2107499" cy="2067600"/>
          </a:xfrm>
          <a:prstGeom prst="rect">
            <a:avLst/>
          </a:prstGeom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10" name="Google Shape;410;p51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411" name="Google Shape;411;p51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51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>
            <p:ph type="title"/>
          </p:nvPr>
        </p:nvSpPr>
        <p:spPr>
          <a:xfrm>
            <a:off x="4980925" y="795800"/>
            <a:ext cx="45477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Карта ценности (Value map)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418" name="Google Shape;418;p52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50" y="1229650"/>
            <a:ext cx="4686076" cy="31032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2"/>
          <p:cNvSpPr txBox="1"/>
          <p:nvPr>
            <p:ph idx="4294967295" type="subTitle"/>
          </p:nvPr>
        </p:nvSpPr>
        <p:spPr>
          <a:xfrm>
            <a:off x="5568700" y="17255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Во множество раз дешевле личного ментора при сопоставимом качестве обратной связи.</a:t>
            </a:r>
            <a:endParaRPr sz="1000"/>
          </a:p>
        </p:txBody>
      </p:sp>
      <p:sp>
        <p:nvSpPr>
          <p:cNvPr id="420" name="Google Shape;420;p52"/>
          <p:cNvSpPr txBox="1"/>
          <p:nvPr>
            <p:ph idx="4294967295" type="title"/>
          </p:nvPr>
        </p:nvSpPr>
        <p:spPr>
          <a:xfrm>
            <a:off x="5568711" y="1512175"/>
            <a:ext cx="25794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Доступность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21" name="Google Shape;421;p52"/>
          <p:cNvSpPr txBox="1"/>
          <p:nvPr>
            <p:ph idx="4294967295" type="subTitle"/>
          </p:nvPr>
        </p:nvSpPr>
        <p:spPr>
          <a:xfrm>
            <a:off x="5568700" y="2669043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Превосходит бесплатные тренажеры за счет ИИ-диагностики и персонализации.</a:t>
            </a:r>
            <a:endParaRPr sz="1000"/>
          </a:p>
        </p:txBody>
      </p:sp>
      <p:sp>
        <p:nvSpPr>
          <p:cNvPr id="422" name="Google Shape;422;p52"/>
          <p:cNvSpPr txBox="1"/>
          <p:nvPr>
            <p:ph idx="4294967295" type="title"/>
          </p:nvPr>
        </p:nvSpPr>
        <p:spPr>
          <a:xfrm>
            <a:off x="5568711" y="2455700"/>
            <a:ext cx="25794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Эффективность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23" name="Google Shape;423;p52"/>
          <p:cNvSpPr txBox="1"/>
          <p:nvPr>
            <p:ph idx="4294967295" type="subTitle"/>
          </p:nvPr>
        </p:nvSpPr>
        <p:spPr>
          <a:xfrm>
            <a:off x="5568700" y="361256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Оптимальный путь от подготовки до оффера с минимальными затратами.</a:t>
            </a:r>
            <a:endParaRPr sz="1000"/>
          </a:p>
        </p:txBody>
      </p:sp>
      <p:sp>
        <p:nvSpPr>
          <p:cNvPr id="424" name="Google Shape;424;p52"/>
          <p:cNvSpPr txBox="1"/>
          <p:nvPr>
            <p:ph idx="4294967295" type="title"/>
          </p:nvPr>
        </p:nvSpPr>
        <p:spPr>
          <a:xfrm>
            <a:off x="5568711" y="3399225"/>
            <a:ext cx="25794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ress Start 2P"/>
                <a:ea typeface="Press Start 2P"/>
                <a:cs typeface="Press Start 2P"/>
                <a:sym typeface="Press Start 2P"/>
              </a:rPr>
              <a:t>Результат</a:t>
            </a:r>
            <a:endParaRPr sz="1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345300" y="772525"/>
            <a:ext cx="84534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Обоснование справедливой стоимости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1299875" y="1374925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Альтернативный путь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31" name="Google Shape;431;p53"/>
          <p:cNvSpPr txBox="1"/>
          <p:nvPr>
            <p:ph idx="2" type="subTitle"/>
          </p:nvPr>
        </p:nvSpPr>
        <p:spPr>
          <a:xfrm>
            <a:off x="1299875" y="2021133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Личный ментор: ~$300 – $600 / мес (при 1 занятии в неделю).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2" name="Google Shape;432;p53"/>
          <p:cNvSpPr txBox="1"/>
          <p:nvPr>
            <p:ph idx="3" type="subTitle"/>
          </p:nvPr>
        </p:nvSpPr>
        <p:spPr>
          <a:xfrm>
            <a:off x="1299875" y="2667342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Поиск материалов: ~10-15 часов личного времени (бесплатно, но хаотично).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3" name="Google Shape;433;p53"/>
          <p:cNvSpPr txBox="1"/>
          <p:nvPr>
            <p:ph idx="4" type="subTitle"/>
          </p:nvPr>
        </p:nvSpPr>
        <p:spPr>
          <a:xfrm>
            <a:off x="1299875" y="3313550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Пробные интервью: Сложно организовать, нет объективной оценки.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4" name="Google Shape;434;p53"/>
          <p:cNvSpPr txBox="1"/>
          <p:nvPr>
            <p:ph idx="5" type="subTitle"/>
          </p:nvPr>
        </p:nvSpPr>
        <p:spPr>
          <a:xfrm>
            <a:off x="5044225" y="1374925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Путь с TechInterview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35" name="Google Shape;435;p53"/>
          <p:cNvSpPr txBox="1"/>
          <p:nvPr>
            <p:ph idx="6" type="subTitle"/>
          </p:nvPr>
        </p:nvSpPr>
        <p:spPr>
          <a:xfrm>
            <a:off x="5044225" y="2021131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Единая подписка: </a:t>
            </a: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$19/мес или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$49 / мес.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6" name="Google Shape;436;p53"/>
          <p:cNvSpPr txBox="1"/>
          <p:nvPr>
            <p:ph idx="7" type="subTitle"/>
          </p:nvPr>
        </p:nvSpPr>
        <p:spPr>
          <a:xfrm>
            <a:off x="5044225" y="2667337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Доступ 24/7: ИИ-ассистент готов к тренировке в любое время.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7" name="Google Shape;437;p53"/>
          <p:cNvSpPr txBox="1"/>
          <p:nvPr>
            <p:ph idx="8" type="subTitle"/>
          </p:nvPr>
        </p:nvSpPr>
        <p:spPr>
          <a:xfrm>
            <a:off x="5044225" y="3313544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Персонализация: Экономия до 40% времени за счет фокуса на пробелах.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8" name="Google Shape;438;p53"/>
          <p:cNvSpPr txBox="1"/>
          <p:nvPr>
            <p:ph idx="9" type="title"/>
          </p:nvPr>
        </p:nvSpPr>
        <p:spPr>
          <a:xfrm>
            <a:off x="534575" y="3414675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9" name="Google Shape;439;p53"/>
          <p:cNvSpPr txBox="1"/>
          <p:nvPr>
            <p:ph idx="13" type="title"/>
          </p:nvPr>
        </p:nvSpPr>
        <p:spPr>
          <a:xfrm>
            <a:off x="534575" y="2125975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0" name="Google Shape;440;p53"/>
          <p:cNvSpPr txBox="1"/>
          <p:nvPr>
            <p:ph idx="15" type="title"/>
          </p:nvPr>
        </p:nvSpPr>
        <p:spPr>
          <a:xfrm>
            <a:off x="534575" y="2770325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1" name="Google Shape;441;p53"/>
          <p:cNvSpPr txBox="1"/>
          <p:nvPr>
            <p:ph idx="4" type="subTitle"/>
          </p:nvPr>
        </p:nvSpPr>
        <p:spPr>
          <a:xfrm>
            <a:off x="1299875" y="4103250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Итог: Дорого или долго.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2" name="Google Shape;442;p53"/>
          <p:cNvSpPr txBox="1"/>
          <p:nvPr>
            <p:ph idx="8" type="subTitle"/>
          </p:nvPr>
        </p:nvSpPr>
        <p:spPr>
          <a:xfrm>
            <a:off x="5044225" y="4103244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Итог: Быстрее и в 6-10 раз дешевле ментора.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3" name="Google Shape;443;p53"/>
          <p:cNvSpPr txBox="1"/>
          <p:nvPr>
            <p:ph idx="9" type="title"/>
          </p:nvPr>
        </p:nvSpPr>
        <p:spPr>
          <a:xfrm>
            <a:off x="534575" y="4204375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Каналы распределения продукта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49" name="Google Shape;449;p54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06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50" name="Google Shape;450;p54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6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451" name="Google Shape;451;p54" title="content_sysrasp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-2349" r="-2495" t="0"/>
          <a:stretch/>
        </p:blipFill>
        <p:spPr>
          <a:xfrm flipH="1">
            <a:off x="6386650" y="947025"/>
            <a:ext cx="2107350" cy="2014600"/>
          </a:xfrm>
          <a:prstGeom prst="rect">
            <a:avLst/>
          </a:prstGeom>
        </p:spPr>
      </p:pic>
      <p:grpSp>
        <p:nvGrpSpPr>
          <p:cNvPr id="452" name="Google Shape;452;p54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453" name="Google Shape;453;p54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4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idx="1" type="subTitle"/>
          </p:nvPr>
        </p:nvSpPr>
        <p:spPr>
          <a:xfrm>
            <a:off x="3145041" y="2356870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IT-буткемпы, ВУЗы, образовательные платформы – white-label или корпоративные лицензии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Интеграции с ATS (HH, LinkedIn) — встраивание в воронку подбора</a:t>
            </a:r>
            <a:endParaRPr sz="1000"/>
          </a:p>
        </p:txBody>
      </p:sp>
      <p:sp>
        <p:nvSpPr>
          <p:cNvPr id="460" name="Google Shape;460;p55"/>
          <p:cNvSpPr txBox="1"/>
          <p:nvPr>
            <p:ph idx="2" type="subTitle"/>
          </p:nvPr>
        </p:nvSpPr>
        <p:spPr>
          <a:xfrm>
            <a:off x="341850" y="2356870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Веб-платформа (SaaS + PWA) – основной вход для пользователей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Telegram-бот – микро-тренировки, уведомления, быстрый онбординг</a:t>
            </a:r>
            <a:endParaRPr sz="1000"/>
          </a:p>
        </p:txBody>
      </p:sp>
      <p:sp>
        <p:nvSpPr>
          <p:cNvPr id="461" name="Google Shape;461;p55"/>
          <p:cNvSpPr txBox="1"/>
          <p:nvPr>
            <p:ph idx="3" type="subTitle"/>
          </p:nvPr>
        </p:nvSpPr>
        <p:spPr>
          <a:xfrm>
            <a:off x="5948257" y="2356870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Контент-маркетинг (Habr, Dev.to, YouTube)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Реферальная программа внутри платформы</a:t>
            </a:r>
            <a:endParaRPr sz="1000"/>
          </a:p>
        </p:txBody>
      </p:sp>
      <p:sp>
        <p:nvSpPr>
          <p:cNvPr id="462" name="Google Shape;462;p55"/>
          <p:cNvSpPr txBox="1"/>
          <p:nvPr>
            <p:ph type="title"/>
          </p:nvPr>
        </p:nvSpPr>
        <p:spPr>
          <a:xfrm>
            <a:off x="3145056" y="1706300"/>
            <a:ext cx="2599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Партнерские каналы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3" name="Google Shape;463;p55"/>
          <p:cNvSpPr txBox="1"/>
          <p:nvPr>
            <p:ph idx="4" type="title"/>
          </p:nvPr>
        </p:nvSpPr>
        <p:spPr>
          <a:xfrm>
            <a:off x="341850" y="1706450"/>
            <a:ext cx="25992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Прямые каналы (B2C)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4" name="Google Shape;464;p55"/>
          <p:cNvSpPr txBox="1"/>
          <p:nvPr>
            <p:ph idx="5" type="title"/>
          </p:nvPr>
        </p:nvSpPr>
        <p:spPr>
          <a:xfrm>
            <a:off x="5948963" y="1706300"/>
            <a:ext cx="2599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Косвенные/Маркетинговые каналы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5" name="Google Shape;465;p55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Возможные каналы распределения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Преимущества и недостатки каналов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471" name="Google Shape;471;p56"/>
          <p:cNvGraphicFramePr/>
          <p:nvPr/>
        </p:nvGraphicFramePr>
        <p:xfrm>
          <a:off x="538988" y="137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675075"/>
                <a:gridCol w="2675075"/>
                <a:gridCol w="2675075"/>
              </a:tblGrid>
              <a:tr h="40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Канал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Премущества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Недостатки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Веб-платформа (SaaS/PWA)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Полный контроль UX, прямая монетизация,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быстрые обновления, естественно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поддерживает Freemium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Высокий CAC на старте, требуется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SEO/реклама, пользователи должны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активно искать продукт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Telegram-бот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Низкий порог входа, высокая вовлечённость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ЦА в СНГ/Вост. Европе, быстрый онбординг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без регистрации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Ограниченный UI для сложных задач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(System Design), зависимость от правил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платформы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B2B-партнёрства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Массовое привлечение, стабильный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recurring revenue, снижение CAC за счёт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партнёра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Долгий цикл продаж, необходимость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кастомизации/white-label, снижение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маржи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Контент &amp; комьюнити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Виральный потенциал, формирование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экспертизы, точное попадание в ЦА, низкая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стоимость органики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Нестабильный поток, требует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постоянного производства контента, 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сложно масштабировать без бюджета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7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Выбор и обоснование оптимального канала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77" name="Google Shape;477;p57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Выбранная модель: Гибридная стратегия Direct SaaS + Telegram Funnel + B2B Partnerships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Обоснование выбора: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Совместимость с бизнес-моделью: Прямая SaaS-платформа полностью покрывает тарифы Pro ($19/мес) и Elite ($49/мес), позволяя контролировать метрики LTV/CAC ≥ 3.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Снижение CAC через Telegram: Разработчики в СНГ/Восточной Европе активно используют мессенджер для обучения. Бот выступает как低成本-воронка верхнего уровня, конвертируя пользователей в веб-подписку.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Стабилизация cash flow через B2B: Партнёрства с буткемпами и ВУЗами закрывают тариф Team (от $299/мес), обеспечивая predictable revenue и ускоряя выход на безубыточность (цель ПЗ 4: 10 мес).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Учёт ограничений: Отказ от нативных приложений на старте оправдан: PWA покрывает 90% сценариев, а ресурсы направляются в AI-движок и контент.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8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История программного продукта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83" name="Google Shape;483;p58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07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84" name="Google Shape;484;p58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7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485" name="Google Shape;485;p58" title="content_sysrasp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-2349" r="-2495" t="0"/>
          <a:stretch/>
        </p:blipFill>
        <p:spPr>
          <a:xfrm flipH="1">
            <a:off x="6386650" y="947025"/>
            <a:ext cx="2107350" cy="2014600"/>
          </a:xfrm>
          <a:prstGeom prst="rect">
            <a:avLst/>
          </a:prstGeom>
        </p:spPr>
      </p:pic>
      <p:grpSp>
        <p:nvGrpSpPr>
          <p:cNvPr id="486" name="Google Shape;486;p58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487" name="Google Shape;487;p58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58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Цель истории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494" name="Google Shape;494;p59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Главная цель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Показать, что продукт решает реальную боль и приводит к результату (офферу).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Подцели: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Снизить недоверие к AI-продукту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Показать конкретный сценарий использования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Подвести к покупке (Pro/Elite)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Действующие лица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00" name="Google Shape;500;p60"/>
          <p:cNvSpPr txBox="1"/>
          <p:nvPr>
            <p:ph idx="1" type="body"/>
          </p:nvPr>
        </p:nvSpPr>
        <p:spPr>
          <a:xfrm>
            <a:off x="400325" y="1428225"/>
            <a:ext cx="8330100" cy="3333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Главный герой: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Middle-разработчик (ключевой сегмент с высоким LTV)</a:t>
            </a:r>
            <a:endParaRPr sz="1200">
              <a:solidFill>
                <a:schemeClr val="dk1"/>
              </a:solidFill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Вторичные: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Интервьюер (давление, оценка)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AI-ассистент TechInterview (наставник)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Почему так: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Middle — платит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У него уже есть боль “не прохожу собесы”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Сюжет (структура)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06" name="Google Shape;506;p61"/>
          <p:cNvSpPr txBox="1"/>
          <p:nvPr>
            <p:ph idx="1" type="body"/>
          </p:nvPr>
        </p:nvSpPr>
        <p:spPr>
          <a:xfrm>
            <a:off x="400325" y="1428225"/>
            <a:ext cx="8330100" cy="3333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Формула: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проблема → попытки → провал → решение → результат</a:t>
            </a:r>
            <a:endParaRPr sz="1200">
              <a:solidFill>
                <a:schemeClr val="dk1"/>
              </a:solidFill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Декорации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12" name="Google Shape;512;p62"/>
          <p:cNvSpPr txBox="1"/>
          <p:nvPr>
            <p:ph idx="1" type="body"/>
          </p:nvPr>
        </p:nvSpPr>
        <p:spPr>
          <a:xfrm>
            <a:off x="400325" y="1428225"/>
            <a:ext cx="8330100" cy="3333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декорации: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Дом (подготовка вечером)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Онлайн-собеседование (Zoom/Google Meet)</a:t>
            </a:r>
            <a:endParaRPr sz="1200">
              <a:solidFill>
                <a:srgbClr val="000000"/>
              </a:solidFill>
            </a:endParaRPr>
          </a:p>
          <a:p>
            <a:pPr indent="-19685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Интерфейс платформы (дашборд, задачи, фидбек)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История 1.</a:t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Не хватает знаний? Нет. Не хватает структуры.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18" name="Google Shape;518;p63"/>
          <p:cNvSpPr txBox="1"/>
          <p:nvPr>
            <p:ph idx="1" type="body"/>
          </p:nvPr>
        </p:nvSpPr>
        <p:spPr>
          <a:xfrm>
            <a:off x="400325" y="1810750"/>
            <a:ext cx="8330100" cy="2951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Андрей, Middle backend-разработчик, 3 года опыта. Хочет перейти в продуктовую компанию.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/>
              <a:t>  </a:t>
            </a:r>
            <a:r>
              <a:rPr lang="en" sz="1200"/>
              <a:t>Он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Решает задачи на LeetCode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Смотрит курсы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Г</a:t>
            </a:r>
            <a:r>
              <a:rPr lang="en" sz="1200"/>
              <a:t>отовится 2 месяца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Получает: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</a:t>
            </a:r>
            <a:r>
              <a:rPr lang="en" sz="1200"/>
              <a:t>роваливает 3 собеседования подряд.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4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Конфликт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24" name="Google Shape;524;p64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Проблема не в знаниях.</a:t>
            </a:r>
            <a:r>
              <a:rPr lang="en"/>
              <a:t>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интервью он: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Путается в объяснении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Не структурирует решение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Т</a:t>
            </a:r>
            <a:r>
              <a:rPr lang="en" sz="1200"/>
              <a:t>еряется под давлением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Он понимает: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“Я знаю, но не могу показать”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5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Поворот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30" name="Google Shape;530;p65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находит TechInterview. Проходит: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Диагностику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Получает слабые зоны (system design + communication)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Платформа строит план: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“4 недели → подготовка к system design + mock-интервью”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Использование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36" name="Google Shape;536;p66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Андрей тренируется: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Решает задачи с AI-фидбеком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Проходит симуляции интервью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Учится “thinking out loud”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Каждая ошибка: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О</a:t>
            </a:r>
            <a:r>
              <a:rPr lang="en" sz="1200"/>
              <a:t>бъясняется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Исправляется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Кульминация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42" name="Google Shape;542;p67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Новое интервью. Теперь он: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Структурирует ответ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Проговаривает решения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А</a:t>
            </a:r>
            <a:r>
              <a:rPr lang="en" sz="1200"/>
              <a:t>ргументирует trade-offs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Интервьюер: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“Good. Let’s go deeper.”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8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Развязка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48" name="Google Shape;548;p68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Оффер: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Рост зарплаты: +40%</a:t>
            </a:r>
            <a:endParaRPr sz="1200">
              <a:solidFill>
                <a:srgbClr val="000000"/>
              </a:solidFill>
            </a:endParaRPr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Андрей: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“Я не стал умнее. Я стал понятнее.”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Вывод</a:t>
            </a:r>
            <a:endParaRPr sz="15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54" name="Google Shape;554;p69"/>
          <p:cNvSpPr txBox="1"/>
          <p:nvPr>
            <p:ph idx="1" type="body"/>
          </p:nvPr>
        </p:nvSpPr>
        <p:spPr>
          <a:xfrm>
            <a:off x="400325" y="1420425"/>
            <a:ext cx="8330100" cy="334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TechInterview: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Выявляет пробелы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Учит объяснять</a:t>
            </a:r>
            <a:endParaRPr sz="1200">
              <a:solidFill>
                <a:srgbClr val="000000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Моделирует реальные интервью</a:t>
            </a:r>
            <a:endParaRPr sz="1200">
              <a:solidFill>
                <a:srgbClr val="000000"/>
              </a:solidFill>
            </a:endParaRPr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Результат: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Подготовка </a:t>
            </a:r>
            <a:r>
              <a:rPr lang="en" sz="1200">
                <a:solidFill>
                  <a:srgbClr val="000000"/>
                </a:solidFill>
              </a:rPr>
              <a:t>→</a:t>
            </a:r>
            <a:r>
              <a:rPr lang="en" sz="1200"/>
              <a:t> Уверенность </a:t>
            </a:r>
            <a:r>
              <a:rPr lang="en" sz="1200">
                <a:solidFill>
                  <a:srgbClr val="000000"/>
                </a:solidFill>
              </a:rPr>
              <a:t>→</a:t>
            </a:r>
            <a:r>
              <a:rPr lang="en" sz="1200"/>
              <a:t> Оффер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История 2.</a:t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Почему ты не проходишь собес?</a:t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60" name="Google Shape;560;p70"/>
          <p:cNvSpPr txBox="1"/>
          <p:nvPr>
            <p:ph idx="1" type="body"/>
          </p:nvPr>
        </p:nvSpPr>
        <p:spPr>
          <a:xfrm>
            <a:off x="400325" y="1590925"/>
            <a:ext cx="8330100" cy="317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Ты решаешь задачи, но проваливаешь интервью.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/>
              <a:t>  </a:t>
            </a:r>
            <a:r>
              <a:rPr lang="en" sz="1200"/>
              <a:t>Проблема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! Не знания</a:t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Коммуникация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Структура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Получает: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Проваливает 3 собеседования подряд.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/>
          <p:nvPr>
            <p:ph type="title"/>
          </p:nvPr>
        </p:nvSpPr>
        <p:spPr>
          <a:xfrm>
            <a:off x="400350" y="947025"/>
            <a:ext cx="8329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Правильный выбор и решение</a:t>
            </a:r>
            <a:endParaRPr b="1" sz="15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66" name="Google Shape;566;p71"/>
          <p:cNvSpPr txBox="1"/>
          <p:nvPr>
            <p:ph idx="1" type="body"/>
          </p:nvPr>
        </p:nvSpPr>
        <p:spPr>
          <a:xfrm>
            <a:off x="400325" y="1590925"/>
            <a:ext cx="8330100" cy="317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TechInterview предоставляет: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Симуляции интервью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AI-фидбек</a:t>
            </a:r>
            <a:endParaRPr sz="1200"/>
          </a:p>
          <a:p>
            <a:pPr indent="-19685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/>
              <a:t>Персональный план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Результат: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!Ты не угадываешь вопросы</a:t>
            </a:r>
            <a:endParaRPr sz="1200"/>
          </a:p>
          <a:p>
            <a:pPr indent="-20320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Ты умеешь отвечать</a:t>
            </a:r>
            <a:endParaRPr sz="1200"/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2"/>
          <p:cNvSpPr txBox="1"/>
          <p:nvPr>
            <p:ph type="title"/>
          </p:nvPr>
        </p:nvSpPr>
        <p:spPr>
          <a:xfrm>
            <a:off x="238125" y="849125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Медиа-каналы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572" name="Google Shape;572;p72"/>
          <p:cNvGraphicFramePr/>
          <p:nvPr/>
        </p:nvGraphicFramePr>
        <p:xfrm>
          <a:off x="238125" y="14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813250"/>
                <a:gridCol w="5854500"/>
              </a:tblGrid>
              <a:tr h="33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Канал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Форма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YouTube/Shorts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Кейсы “до/после”, разборы интервью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Telegram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Короткие истории, воронка → бот → продукт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Linkedln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Кейсы “получил оффер”, B2B сегмент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Habr / Dev.to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Статьи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Landing page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История пользователя как основной блок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3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ess Start 2P"/>
                <a:ea typeface="Press Start 2P"/>
                <a:cs typeface="Press Start 2P"/>
                <a:sym typeface="Press Start 2P"/>
              </a:rPr>
              <a:t>План маркетинговой деятельности</a:t>
            </a:r>
            <a:endParaRPr sz="16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78" name="Google Shape;578;p73"/>
          <p:cNvSpPr txBox="1"/>
          <p:nvPr>
            <p:ph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ess Start 2P"/>
                <a:ea typeface="Press Start 2P"/>
                <a:cs typeface="Press Start 2P"/>
                <a:sym typeface="Press Start 2P"/>
              </a:rPr>
              <a:t>08.1</a:t>
            </a:r>
            <a:endParaRPr sz="2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79" name="Google Shape;579;p73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ess Start 2P"/>
                <a:ea typeface="Press Start 2P"/>
                <a:cs typeface="Press Start 2P"/>
                <a:sym typeface="Press Start 2P"/>
              </a:rPr>
              <a:t>ПЗ 8.1</a:t>
            </a:r>
            <a:endParaRPr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580" name="Google Shape;580;p73" title="content_sysrasp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-2349" r="-2495" t="0"/>
          <a:stretch/>
        </p:blipFill>
        <p:spPr>
          <a:xfrm flipH="1">
            <a:off x="6386650" y="947025"/>
            <a:ext cx="2107350" cy="2014600"/>
          </a:xfrm>
          <a:prstGeom prst="rect">
            <a:avLst/>
          </a:prstGeom>
        </p:spPr>
      </p:pic>
      <p:grpSp>
        <p:nvGrpSpPr>
          <p:cNvPr id="581" name="Google Shape;581;p73"/>
          <p:cNvGrpSpPr/>
          <p:nvPr/>
        </p:nvGrpSpPr>
        <p:grpSpPr>
          <a:xfrm>
            <a:off x="6386650" y="947025"/>
            <a:ext cx="2107351" cy="265500"/>
            <a:chOff x="6386650" y="947025"/>
            <a:chExt cx="2107351" cy="265500"/>
          </a:xfrm>
        </p:grpSpPr>
        <p:pic>
          <p:nvPicPr>
            <p:cNvPr id="582" name="Google Shape;582;p73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73" title="Sin título-2.png"/>
            <p:cNvPicPr preferRelativeResize="0"/>
            <p:nvPr/>
          </p:nvPicPr>
          <p:blipFill rotWithShape="1">
            <a:blip r:embed="rId4">
              <a:alphaModFix/>
            </a:blip>
            <a:srcRect b="0" l="71707" r="0" t="0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4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Выбор и обоснование оптимального канала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89" name="Google Shape;589;p74"/>
          <p:cNvSpPr txBox="1"/>
          <p:nvPr>
            <p:ph idx="1" type="subTitle"/>
          </p:nvPr>
        </p:nvSpPr>
        <p:spPr>
          <a:xfrm>
            <a:off x="1690200" y="1255425"/>
            <a:ext cx="5763600" cy="14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Цель проекта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TechInterview — AI-платформа для подготовки к техническим собеседованиям, объединяющая: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000000"/>
                </a:solidFill>
              </a:rPr>
              <a:t>адаптивную подготовку,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000000"/>
                </a:solidFill>
              </a:rPr>
              <a:t>симуляции интервью,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000000"/>
                </a:solidFill>
              </a:rPr>
              <a:t>AI-фидбек,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000000"/>
                </a:solidFill>
              </a:rPr>
              <a:t>персонализированные траектории обучения.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Главная маркетинговая цель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Вывести продукт на рынок EdTech/HRTech и занять нишу AI-подготовки к IT-собеседованиям.</a:t>
            </a:r>
            <a:endParaRPr sz="1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5"/>
          <p:cNvSpPr txBox="1"/>
          <p:nvPr>
            <p:ph type="title"/>
          </p:nvPr>
        </p:nvSpPr>
        <p:spPr>
          <a:xfrm>
            <a:off x="345300" y="772525"/>
            <a:ext cx="84534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95" name="Google Shape;595;p75"/>
          <p:cNvSpPr txBox="1"/>
          <p:nvPr>
            <p:ph idx="1" type="subTitle"/>
          </p:nvPr>
        </p:nvSpPr>
        <p:spPr>
          <a:xfrm>
            <a:off x="1299875" y="1374925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ess Start 2P"/>
                <a:ea typeface="Press Start 2P"/>
                <a:cs typeface="Press Start 2P"/>
                <a:sym typeface="Press Start 2P"/>
              </a:rPr>
              <a:t>Бизнес-цели первого года</a:t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96" name="Google Shape;596;p75"/>
          <p:cNvSpPr txBox="1"/>
          <p:nvPr>
            <p:ph idx="5" type="subTitle"/>
          </p:nvPr>
        </p:nvSpPr>
        <p:spPr>
          <a:xfrm>
            <a:off x="4547550" y="1374925"/>
            <a:ext cx="39690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Основная маркетинговая стратегия</a:t>
            </a:r>
            <a:endParaRPr sz="1200">
              <a:solidFill>
                <a:srgbClr val="000000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597" name="Google Shape;597;p75"/>
          <p:cNvSpPr txBox="1"/>
          <p:nvPr>
            <p:ph idx="6" type="subTitle"/>
          </p:nvPr>
        </p:nvSpPr>
        <p:spPr>
          <a:xfrm>
            <a:off x="5132100" y="2674731"/>
            <a:ext cx="27999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Продвижение строится вокруг: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бесплатной ценности (Freemium),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контент-маркетинга,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Telegram-воронки,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AI-персонализации,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постепенной конверсии в платную подписку.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8" name="Google Shape;598;p75"/>
          <p:cNvSpPr txBox="1"/>
          <p:nvPr/>
        </p:nvSpPr>
        <p:spPr>
          <a:xfrm>
            <a:off x="1199825" y="2210250"/>
            <a:ext cx="3000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10 000+ MAU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Конверсия Free → Paid ≥ 15%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Выход на безубыточность за 10 месяцев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Формирование активного IT-комьюнити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Получение первых B2B-контрактов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6"/>
          <p:cNvSpPr txBox="1"/>
          <p:nvPr>
            <p:ph type="title"/>
          </p:nvPr>
        </p:nvSpPr>
        <p:spPr>
          <a:xfrm>
            <a:off x="341850" y="726075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Этапы вывода продукта на рынок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04" name="Google Shape;604;p76"/>
          <p:cNvGraphicFramePr/>
          <p:nvPr/>
        </p:nvGraphicFramePr>
        <p:xfrm>
          <a:off x="538988" y="137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675075"/>
                <a:gridCol w="2675075"/>
                <a:gridCol w="2675075"/>
              </a:tblGrid>
              <a:tr h="40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Этап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Период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Основная цель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Pre-launch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1-2 месяца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Сбор аудитории и проверка спроса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MVP-launch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3-4 месяца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Получение первых пользователей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5-8 месяцев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Масштабирование трафика и retention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Expansion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9-12 месяцев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B2B-партнёрства и международный рост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7"/>
          <p:cNvSpPr txBox="1"/>
          <p:nvPr/>
        </p:nvSpPr>
        <p:spPr>
          <a:xfrm>
            <a:off x="475300" y="794250"/>
            <a:ext cx="3858300" cy="4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latin typeface="Press Start 2P"/>
                <a:ea typeface="Press Start 2P"/>
                <a:cs typeface="Press Start 2P"/>
                <a:sym typeface="Press Start 2P"/>
              </a:rPr>
              <a:t>Этап 1 — Pre-launch</a:t>
            </a:r>
            <a:endParaRPr b="1" sz="120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Цели: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привлечение early adopters;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формирование интереса к продукту;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сбор waitlist.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Основные действия: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запуск landing page;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публикация экспертного контента;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продвижение через Telegram, Reddit, Habr, LinkedIn;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запуск YouTube Shorts и коротких AI-разборов.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KPI: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3000+ пользователей в waitlist;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CAC early users &lt; $3.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0" name="Google Shape;610;p77"/>
          <p:cNvSpPr txBox="1"/>
          <p:nvPr/>
        </p:nvSpPr>
        <p:spPr>
          <a:xfrm>
            <a:off x="4610625" y="794250"/>
            <a:ext cx="51180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latin typeface="Press Start 2P"/>
                <a:ea typeface="Press Start 2P"/>
                <a:cs typeface="Press Start 2P"/>
                <a:sym typeface="Press Start 2P"/>
              </a:rPr>
              <a:t>Этап 2 — MVP Launch</a:t>
            </a:r>
            <a:endParaRPr b="1" sz="120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Цели: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получение первых платящих пользователей;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проверка продуктовой гипотезы;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анализ поведения аудитории.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Основные действия: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запуск Free и Pro тарифов;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AI-feedback для mock-интервью;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Telegram-бот для ежедневной практики;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коллаборации с tech-блогерами.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KPI: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10 000 регистраций;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conversion Free → Paid ≥ 10%;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retention D30 ≥ 25%.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8"/>
          <p:cNvSpPr txBox="1"/>
          <p:nvPr>
            <p:ph type="title"/>
          </p:nvPr>
        </p:nvSpPr>
        <p:spPr>
          <a:xfrm>
            <a:off x="341850" y="732025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Каналы продвижения и воронка привлечения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16" name="Google Shape;616;p78"/>
          <p:cNvGraphicFramePr/>
          <p:nvPr/>
        </p:nvGraphicFramePr>
        <p:xfrm>
          <a:off x="559388" y="133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675075"/>
                <a:gridCol w="2675075"/>
                <a:gridCol w="2675075"/>
              </a:tblGrid>
              <a:tr h="35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Канал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Формат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Цель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48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YouTube/Shorts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Разборы интервью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Охват и доверие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4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Telegram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Daily practice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Retention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Habr/Dev.to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Экспертные статьи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SEO и organic traffic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49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Linkedln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Кейсы и офферы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 и senior-аудитория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1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Reddit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Discussions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Early adopters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4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Referral Program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Приглашения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Viral growth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9"/>
          <p:cNvSpPr txBox="1"/>
          <p:nvPr>
            <p:ph type="title"/>
          </p:nvPr>
        </p:nvSpPr>
        <p:spPr>
          <a:xfrm>
            <a:off x="409900" y="77575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22" name="Google Shape;622;p79"/>
          <p:cNvGraphicFramePr/>
          <p:nvPr/>
        </p:nvGraphicFramePr>
        <p:xfrm>
          <a:off x="409888" y="143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327950"/>
                <a:gridCol w="5996275"/>
              </a:tblGrid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Awareness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Пользователь видит Shorts, статьи, разборы собеседований, кейсы “до/после”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Interest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Переходит: на landing page, в Telegram-бот, на бесплатный трафик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Engagement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Использует: mock-интервью, AI-feedback, персональные рекомендации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53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Conversion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Переходит на: Pro ($19/мес), Elite </a:t>
                      </a: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 ($49/мес)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Retention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Удержание через: ежедневную практику, AI-персонализацию progression dashboard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23" name="Google Shape;623;p79"/>
          <p:cNvSpPr txBox="1"/>
          <p:nvPr>
            <p:ph type="title"/>
          </p:nvPr>
        </p:nvSpPr>
        <p:spPr>
          <a:xfrm>
            <a:off x="341850" y="775750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Каналы продвижения и воронка привлечения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0"/>
          <p:cNvSpPr txBox="1"/>
          <p:nvPr>
            <p:ph idx="6" type="title"/>
          </p:nvPr>
        </p:nvSpPr>
        <p:spPr>
          <a:xfrm>
            <a:off x="363900" y="880250"/>
            <a:ext cx="8249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Ключевые преимущества в коммуникации</a:t>
            </a:r>
            <a:endParaRPr b="1" sz="17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29" name="Google Shape;629;p80"/>
          <p:cNvSpPr txBox="1"/>
          <p:nvPr>
            <p:ph idx="1" type="subTitle"/>
          </p:nvPr>
        </p:nvSpPr>
        <p:spPr>
          <a:xfrm>
            <a:off x="3189150" y="181960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“thinking out loud”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AI-фидбек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симуляции реальных интервью</a:t>
            </a:r>
            <a:endParaRPr b="1"/>
          </a:p>
        </p:txBody>
      </p:sp>
      <p:sp>
        <p:nvSpPr>
          <p:cNvPr id="630" name="Google Shape;630;p80"/>
          <p:cNvSpPr txBox="1"/>
          <p:nvPr>
            <p:ph idx="2" type="subTitle"/>
          </p:nvPr>
        </p:nvSpPr>
        <p:spPr>
          <a:xfrm>
            <a:off x="385950" y="184270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адаптация под роль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стек технологий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уровень кандидата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целевую компанию</a:t>
            </a:r>
            <a:endParaRPr b="1"/>
          </a:p>
        </p:txBody>
      </p:sp>
      <p:sp>
        <p:nvSpPr>
          <p:cNvPr id="631" name="Google Shape;631;p80"/>
          <p:cNvSpPr txBox="1"/>
          <p:nvPr>
            <p:ph idx="3" type="subTitle"/>
          </p:nvPr>
        </p:nvSpPr>
        <p:spPr>
          <a:xfrm>
            <a:off x="5992350" y="1842700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готовые траектории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фокус на слабых местах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меньше хаотичной подготовки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32" name="Google Shape;632;p80"/>
          <p:cNvSpPr txBox="1"/>
          <p:nvPr/>
        </p:nvSpPr>
        <p:spPr>
          <a:xfrm>
            <a:off x="2988750" y="13732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 Mono"/>
                <a:ea typeface="Roboto Mono"/>
                <a:cs typeface="Roboto Mono"/>
                <a:sym typeface="Roboto Mono"/>
              </a:rPr>
              <a:t>Практика коммуникации</a:t>
            </a:r>
            <a:endParaRPr b="1" sz="17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3" name="Google Shape;633;p80"/>
          <p:cNvSpPr txBox="1"/>
          <p:nvPr/>
        </p:nvSpPr>
        <p:spPr>
          <a:xfrm>
            <a:off x="5791950" y="13732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 Mono"/>
                <a:ea typeface="Roboto Mono"/>
                <a:cs typeface="Roboto Mono"/>
                <a:sym typeface="Roboto Mono"/>
              </a:rPr>
              <a:t>Экономия времени</a:t>
            </a:r>
            <a:endParaRPr b="1" sz="17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4" name="Google Shape;634;p80"/>
          <p:cNvSpPr txBox="1"/>
          <p:nvPr/>
        </p:nvSpPr>
        <p:spPr>
          <a:xfrm>
            <a:off x="185550" y="13963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 Mono"/>
                <a:ea typeface="Roboto Mono"/>
                <a:cs typeface="Roboto Mono"/>
                <a:sym typeface="Roboto Mono"/>
              </a:rPr>
              <a:t>Экономия времени</a:t>
            </a:r>
            <a:endParaRPr b="1" sz="1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1"/>
          <p:cNvSpPr txBox="1"/>
          <p:nvPr>
            <p:ph idx="1" type="subTitle"/>
          </p:nvPr>
        </p:nvSpPr>
        <p:spPr>
          <a:xfrm>
            <a:off x="3145041" y="2017095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истории получения офферов;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рост зарплаты;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сравнение “до/после”.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</p:txBody>
      </p:sp>
      <p:sp>
        <p:nvSpPr>
          <p:cNvPr id="640" name="Google Shape;640;p81"/>
          <p:cNvSpPr txBox="1"/>
          <p:nvPr>
            <p:ph idx="2" type="subTitle"/>
          </p:nvPr>
        </p:nvSpPr>
        <p:spPr>
          <a:xfrm>
            <a:off x="341850" y="2017095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“Почему ты не проходишь собеседования”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“Ошибки system design интервью”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“Как отвечать на behavioral questions”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</p:txBody>
      </p:sp>
      <p:sp>
        <p:nvSpPr>
          <p:cNvPr id="641" name="Google Shape;641;p81"/>
          <p:cNvSpPr txBox="1"/>
          <p:nvPr>
            <p:ph idx="3" type="subTitle"/>
          </p:nvPr>
        </p:nvSpPr>
        <p:spPr>
          <a:xfrm>
            <a:off x="5948257" y="2017095"/>
            <a:ext cx="2599200" cy="20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короткие interview tips;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mock interview fails;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Char char="●"/>
            </a:pPr>
            <a:r>
              <a:rPr lang="en">
                <a:solidFill>
                  <a:srgbClr val="1D1D1F"/>
                </a:solidFill>
                <a:highlight>
                  <a:srgbClr val="FFFFFF"/>
                </a:highlight>
              </a:rPr>
              <a:t>AI interview simulation clips.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</p:txBody>
      </p:sp>
      <p:sp>
        <p:nvSpPr>
          <p:cNvPr id="642" name="Google Shape;642;p81"/>
          <p:cNvSpPr txBox="1"/>
          <p:nvPr>
            <p:ph type="title"/>
          </p:nvPr>
        </p:nvSpPr>
        <p:spPr>
          <a:xfrm>
            <a:off x="3145056" y="1706300"/>
            <a:ext cx="2599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Кейсы пользователей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3" name="Google Shape;643;p81"/>
          <p:cNvSpPr txBox="1"/>
          <p:nvPr>
            <p:ph idx="4" type="title"/>
          </p:nvPr>
        </p:nvSpPr>
        <p:spPr>
          <a:xfrm>
            <a:off x="341850" y="1706450"/>
            <a:ext cx="25992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 Образовательный контент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4" name="Google Shape;644;p81"/>
          <p:cNvSpPr txBox="1"/>
          <p:nvPr>
            <p:ph idx="5" type="title"/>
          </p:nvPr>
        </p:nvSpPr>
        <p:spPr>
          <a:xfrm>
            <a:off x="5948963" y="1706300"/>
            <a:ext cx="25992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Viral-контент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5" name="Google Shape;645;p81"/>
          <p:cNvSpPr txBox="1"/>
          <p:nvPr>
            <p:ph idx="6" type="title"/>
          </p:nvPr>
        </p:nvSpPr>
        <p:spPr>
          <a:xfrm>
            <a:off x="319800" y="821150"/>
            <a:ext cx="82497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Контент-стратегия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2"/>
          <p:cNvSpPr txBox="1"/>
          <p:nvPr>
            <p:ph idx="6" type="title"/>
          </p:nvPr>
        </p:nvSpPr>
        <p:spPr>
          <a:xfrm>
            <a:off x="363900" y="880250"/>
            <a:ext cx="8249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B2B-стратегия и партнёрства</a:t>
            </a:r>
            <a:endParaRPr b="1"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51" name="Google Shape;651;p82"/>
          <p:cNvSpPr txBox="1"/>
          <p:nvPr>
            <p:ph idx="1" type="subTitle"/>
          </p:nvPr>
        </p:nvSpPr>
        <p:spPr>
          <a:xfrm>
            <a:off x="3189150" y="1759275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Университеты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Форматы: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корпоративные лицензии;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интеграция в образовательные программы;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подготовка студентов к трудоустройству.</a:t>
            </a:r>
            <a:endParaRPr/>
          </a:p>
        </p:txBody>
      </p:sp>
      <p:sp>
        <p:nvSpPr>
          <p:cNvPr id="652" name="Google Shape;652;p82"/>
          <p:cNvSpPr txBox="1"/>
          <p:nvPr>
            <p:ph idx="2" type="subTitle"/>
          </p:nvPr>
        </p:nvSpPr>
        <p:spPr>
          <a:xfrm>
            <a:off x="385950" y="1759275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IT-буткемпы, онлайн-школы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Использование TechInterview: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как платформы подготовки студентов;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как инструмента аналитики прогресса.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2"/>
          <p:cNvSpPr txBox="1"/>
          <p:nvPr>
            <p:ph idx="3" type="subTitle"/>
          </p:nvPr>
        </p:nvSpPr>
        <p:spPr>
          <a:xfrm>
            <a:off x="5992350" y="1759275"/>
            <a:ext cx="25992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HR-tech платформы</a:t>
            </a:r>
            <a:r>
              <a:rPr b="1"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Возможности: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interview assessment;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question bank;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AI-анализ ответов кандидатов.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2"/>
          <p:cNvSpPr txBox="1"/>
          <p:nvPr>
            <p:ph type="title"/>
          </p:nvPr>
        </p:nvSpPr>
        <p:spPr>
          <a:xfrm>
            <a:off x="3188532" y="1346625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55" name="Google Shape;655;p82"/>
          <p:cNvSpPr txBox="1"/>
          <p:nvPr>
            <p:ph idx="4" type="title"/>
          </p:nvPr>
        </p:nvSpPr>
        <p:spPr>
          <a:xfrm>
            <a:off x="385954" y="1346775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6" name="Google Shape;656;p82"/>
          <p:cNvSpPr txBox="1"/>
          <p:nvPr>
            <p:ph idx="5" type="title"/>
          </p:nvPr>
        </p:nvSpPr>
        <p:spPr>
          <a:xfrm>
            <a:off x="5992395" y="1346625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3"/>
          <p:cNvSpPr txBox="1"/>
          <p:nvPr>
            <p:ph type="title"/>
          </p:nvPr>
        </p:nvSpPr>
        <p:spPr>
          <a:xfrm>
            <a:off x="341850" y="888625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Форматы монетизации B2B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62" name="Google Shape;662;p83"/>
          <p:cNvGraphicFramePr/>
          <p:nvPr/>
        </p:nvGraphicFramePr>
        <p:xfrm>
          <a:off x="409900" y="159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3147875"/>
                <a:gridCol w="5176350"/>
              </a:tblGrid>
              <a:tr h="76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Team Subscription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Доступ для команд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70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White-label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Брендированная версия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Analytics Dashboard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Аналитика кандидатов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8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API/Integrations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Интеграция с ATS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4"/>
          <p:cNvSpPr txBox="1"/>
          <p:nvPr>
            <p:ph type="title"/>
          </p:nvPr>
        </p:nvSpPr>
        <p:spPr>
          <a:xfrm>
            <a:off x="638700" y="955100"/>
            <a:ext cx="78666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Преимущества B2B-модели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68" name="Google Shape;668;p8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С</a:t>
            </a:r>
            <a:r>
              <a:rPr lang="en"/>
              <a:t>табильный cash flow;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В</a:t>
            </a:r>
            <a:r>
              <a:rPr lang="en"/>
              <a:t>ысокий LTV;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С</a:t>
            </a:r>
            <a:r>
              <a:rPr lang="en"/>
              <a:t>нижение CAC;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Д</a:t>
            </a:r>
            <a:r>
              <a:rPr lang="en"/>
              <a:t>олгосрочные контракты.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5"/>
          <p:cNvSpPr txBox="1"/>
          <p:nvPr>
            <p:ph type="title"/>
          </p:nvPr>
        </p:nvSpPr>
        <p:spPr>
          <a:xfrm>
            <a:off x="238125" y="849125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Человеческие ресурсы и бюджет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74" name="Google Shape;674;p85"/>
          <p:cNvGraphicFramePr/>
          <p:nvPr/>
        </p:nvGraphicFramePr>
        <p:xfrm>
          <a:off x="238125" y="14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813250"/>
                <a:gridCol w="5854500"/>
              </a:tblGrid>
              <a:tr h="33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Роль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Основные задачи</a:t>
                      </a:r>
                      <a:endParaRPr sz="1000"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 Manager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Стратегия и roadmap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Fullstack Developer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Backend + Frontend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ML/NLP Engineer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 и персонализация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UX/UI Designer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Интерфейс и UX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Content Manager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SEO и контент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Marketing Specialist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 и acquisition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Sales Manager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9191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B2B-партнёрства</a:t>
                      </a:r>
                      <a:endParaRPr sz="800">
                        <a:solidFill>
                          <a:srgbClr val="191919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5" name="Google Shape;675;p85"/>
          <p:cNvSpPr txBox="1"/>
          <p:nvPr/>
        </p:nvSpPr>
        <p:spPr>
          <a:xfrm>
            <a:off x="238125" y="4477225"/>
            <a:ext cx="334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Минимальная команда MVP - 5–7 человек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6"/>
          <p:cNvSpPr txBox="1"/>
          <p:nvPr>
            <p:ph type="title"/>
          </p:nvPr>
        </p:nvSpPr>
        <p:spPr>
          <a:xfrm>
            <a:off x="341850" y="726075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Маркетинговый бюджет (MVP)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81" name="Google Shape;681;p86"/>
          <p:cNvGraphicFramePr/>
          <p:nvPr/>
        </p:nvGraphicFramePr>
        <p:xfrm>
          <a:off x="341838" y="132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2675075"/>
                <a:gridCol w="2675075"/>
              </a:tblGrid>
              <a:tr h="32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Статья расходов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Бюджет / месяц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8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Paid Ads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$2000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3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Influencer Marketing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$1500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Content Production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$1000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SEO и статьи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$500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Telegram / Community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$300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7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Analytics / SaaS tools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$700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82" name="Google Shape;682;p86"/>
          <p:cNvSpPr txBox="1"/>
          <p:nvPr/>
        </p:nvSpPr>
        <p:spPr>
          <a:xfrm>
            <a:off x="341850" y="3921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100">
                <a:latin typeface="Roboto Mono"/>
                <a:ea typeface="Roboto Mono"/>
                <a:cs typeface="Roboto Mono"/>
                <a:sym typeface="Roboto Mono"/>
              </a:rPr>
              <a:t>Общий бюджет: ~$6000 / месяц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3" name="Google Shape;683;p86"/>
          <p:cNvSpPr txBox="1"/>
          <p:nvPr/>
        </p:nvSpPr>
        <p:spPr>
          <a:xfrm>
            <a:off x="5769225" y="1328475"/>
            <a:ext cx="30000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/>
              <a:t>Почему такой бюджет оправдан</a:t>
            </a:r>
            <a:endParaRPr b="1" sz="12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высокая конкуренция EdTech;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необходимость быстрого тестирования каналов;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критическая зависимость от acquisition и retention;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необходимость построения brand awareness.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7"/>
          <p:cNvSpPr txBox="1"/>
          <p:nvPr>
            <p:ph type="title"/>
          </p:nvPr>
        </p:nvSpPr>
        <p:spPr>
          <a:xfrm>
            <a:off x="341850" y="726075"/>
            <a:ext cx="8460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ess Start 2P"/>
                <a:ea typeface="Press Start 2P"/>
                <a:cs typeface="Press Start 2P"/>
                <a:sym typeface="Press Start 2P"/>
              </a:rPr>
              <a:t>Метрики, риски и итог</a:t>
            </a:r>
            <a:endParaRPr sz="18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aphicFrame>
        <p:nvGraphicFramePr>
          <p:cNvPr id="689" name="Google Shape;689;p87"/>
          <p:cNvGraphicFramePr/>
          <p:nvPr/>
        </p:nvGraphicFramePr>
        <p:xfrm>
          <a:off x="341838" y="1679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647200"/>
                <a:gridCol w="1670950"/>
              </a:tblGrid>
              <a:tr h="40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Основные KPI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Примеры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 metrics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MAU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Session Time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D30 Retention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Completion Rate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Marketing metrics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CTR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CPC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Conversion Rate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Revenue metrics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MRR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ARPU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LTV/CAC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90" name="Google Shape;690;p87"/>
          <p:cNvGraphicFramePr/>
          <p:nvPr/>
        </p:nvGraphicFramePr>
        <p:xfrm>
          <a:off x="6235600" y="182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043800"/>
                <a:gridCol w="1466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Риск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Способ снижения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MAU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10 000+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Free → Paid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≥15%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D30 Retention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≥25%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LTV/CAC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≥3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 Rate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≥15% monthly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91" name="Google Shape;691;p87"/>
          <p:cNvGraphicFramePr/>
          <p:nvPr/>
        </p:nvGraphicFramePr>
        <p:xfrm>
          <a:off x="3796713" y="1732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{CF7332AF-00D9-4153-B179-937170CDA02A}</a:tableStyleId>
              </a:tblPr>
              <a:tblGrid>
                <a:gridCol w="1177825"/>
                <a:gridCol w="1124325"/>
              </a:tblGrid>
              <a:tr h="32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Метрика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Цель</a:t>
                      </a:r>
                      <a:endParaRPr b="1" sz="12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Высокий CAC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SEO + referral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Конкуренция AI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Узкая специализация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Высокие LLM-costs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Hybrid AI stack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Низкий retention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Персонализация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  <a:tr h="24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Копирование фич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Комьюнити + бренд</a:t>
                      </a:r>
                      <a:endParaRPr sz="8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8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97" name="Google Shape;697;p88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mistermaks229@gmail.com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TechInterview.com</a:t>
            </a:r>
            <a:endParaRPr/>
          </a:p>
        </p:txBody>
      </p:sp>
      <p:sp>
        <p:nvSpPr>
          <p:cNvPr id="698" name="Google Shape;698;p88"/>
          <p:cNvSpPr txBox="1"/>
          <p:nvPr/>
        </p:nvSpPr>
        <p:spPr>
          <a:xfrm>
            <a:off x="4941648" y="3180650"/>
            <a:ext cx="32064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Please keep this slide for attribution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99" name="Google Shape;699;p88"/>
          <p:cNvGrpSpPr/>
          <p:nvPr/>
        </p:nvGrpSpPr>
        <p:grpSpPr>
          <a:xfrm>
            <a:off x="786300" y="3047287"/>
            <a:ext cx="437400" cy="437400"/>
            <a:chOff x="786300" y="3047287"/>
            <a:chExt cx="437400" cy="437400"/>
          </a:xfrm>
        </p:grpSpPr>
        <p:sp>
          <p:nvSpPr>
            <p:cNvPr id="700" name="Google Shape;700;p88"/>
            <p:cNvSpPr/>
            <p:nvPr/>
          </p:nvSpPr>
          <p:spPr>
            <a:xfrm>
              <a:off x="78630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1" name="Google Shape;701;p88"/>
            <p:cNvGrpSpPr/>
            <p:nvPr/>
          </p:nvGrpSpPr>
          <p:grpSpPr>
            <a:xfrm>
              <a:off x="873449" y="3126785"/>
              <a:ext cx="276012" cy="275991"/>
              <a:chOff x="3368074" y="3882537"/>
              <a:chExt cx="215298" cy="215298"/>
            </a:xfrm>
          </p:grpSpPr>
          <p:sp>
            <p:nvSpPr>
              <p:cNvPr id="702" name="Google Shape;702;p88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rect b="b" l="l" r="r" t="t"/>
                <a:pathLst>
                  <a:path extrusionOk="0" h="6764" w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88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rect b="b" l="l" r="r" t="t"/>
                <a:pathLst>
                  <a:path extrusionOk="0" h="3542" w="3607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88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5" name="Google Shape;705;p88"/>
          <p:cNvGrpSpPr/>
          <p:nvPr/>
        </p:nvGrpSpPr>
        <p:grpSpPr>
          <a:xfrm>
            <a:off x="1358800" y="3047287"/>
            <a:ext cx="437400" cy="437400"/>
            <a:chOff x="1358800" y="3047287"/>
            <a:chExt cx="437400" cy="437400"/>
          </a:xfrm>
        </p:grpSpPr>
        <p:sp>
          <p:nvSpPr>
            <p:cNvPr id="706" name="Google Shape;706;p88"/>
            <p:cNvSpPr/>
            <p:nvPr/>
          </p:nvSpPr>
          <p:spPr>
            <a:xfrm>
              <a:off x="135880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7" name="Google Shape;707;p88"/>
            <p:cNvGrpSpPr/>
            <p:nvPr/>
          </p:nvGrpSpPr>
          <p:grpSpPr>
            <a:xfrm>
              <a:off x="1444106" y="3145493"/>
              <a:ext cx="266790" cy="238574"/>
              <a:chOff x="3824739" y="3890112"/>
              <a:chExt cx="208105" cy="186110"/>
            </a:xfrm>
          </p:grpSpPr>
          <p:sp>
            <p:nvSpPr>
              <p:cNvPr id="708" name="Google Shape;708;p88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rect b="b" l="l" r="r" t="t"/>
                <a:pathLst>
                  <a:path extrusionOk="0" h="3787" w="1502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88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rect b="b" l="l" r="r" t="t"/>
                <a:pathLst>
                  <a:path extrusionOk="0" h="1728" w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88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rect b="b" l="l" r="r" t="t"/>
                <a:pathLst>
                  <a:path extrusionOk="0" h="3787" w="4026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1" name="Google Shape;711;p88"/>
          <p:cNvGrpSpPr/>
          <p:nvPr/>
        </p:nvGrpSpPr>
        <p:grpSpPr>
          <a:xfrm>
            <a:off x="2005550" y="3047287"/>
            <a:ext cx="437400" cy="437400"/>
            <a:chOff x="2005550" y="3047287"/>
            <a:chExt cx="437400" cy="437400"/>
          </a:xfrm>
        </p:grpSpPr>
        <p:sp>
          <p:nvSpPr>
            <p:cNvPr id="712" name="Google Shape;712;p88"/>
            <p:cNvSpPr/>
            <p:nvPr/>
          </p:nvSpPr>
          <p:spPr>
            <a:xfrm>
              <a:off x="2005550" y="3047287"/>
              <a:ext cx="437400" cy="43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88"/>
            <p:cNvSpPr/>
            <p:nvPr/>
          </p:nvSpPr>
          <p:spPr>
            <a:xfrm>
              <a:off x="2124686" y="3163027"/>
              <a:ext cx="199128" cy="203499"/>
            </a:xfrm>
            <a:custGeom>
              <a:rect b="b" l="l" r="r" t="t"/>
              <a:pathLst>
                <a:path extrusionOk="0" h="505587" w="494728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4" name="Google Shape;714;p88"/>
          <p:cNvSpPr txBox="1"/>
          <p:nvPr/>
        </p:nvSpPr>
        <p:spPr>
          <a:xfrm>
            <a:off x="341850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Write your Name</a:t>
            </a:r>
            <a:endParaRPr sz="16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